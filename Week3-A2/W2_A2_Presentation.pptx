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3"/>
  </p:notesMasterIdLst>
  <p:handoutMasterIdLst>
    <p:handoutMasterId r:id="rId14"/>
  </p:handoutMasterIdLst>
  <p:sldIdLst>
    <p:sldId id="410" r:id="rId5"/>
    <p:sldId id="383" r:id="rId6"/>
    <p:sldId id="391" r:id="rId7"/>
    <p:sldId id="407" r:id="rId8"/>
    <p:sldId id="406" r:id="rId9"/>
    <p:sldId id="397" r:id="rId10"/>
    <p:sldId id="411" r:id="rId11"/>
    <p:sldId id="39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0438" autoAdjust="0"/>
  </p:normalViewPr>
  <p:slideViewPr>
    <p:cSldViewPr snapToGrid="0">
      <p:cViewPr varScale="1">
        <p:scale>
          <a:sx n="52" d="100"/>
          <a:sy n="52" d="100"/>
        </p:scale>
        <p:origin x="1228" y="48"/>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5/2/2026</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5/2/2026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activity, </a:t>
            </a:r>
          </a:p>
          <a:p>
            <a:endParaRPr lang="en-US" dirty="0"/>
          </a:p>
          <a:p>
            <a:r>
              <a:rPr lang="en-US" dirty="0"/>
              <a:t>I worked with a messy employee dataset. </a:t>
            </a:r>
          </a:p>
          <a:p>
            <a:endParaRPr lang="en-US" dirty="0"/>
          </a:p>
          <a:p>
            <a:r>
              <a:rPr lang="en-US" dirty="0"/>
              <a:t>The goal was to clean the data and analyze the relationship between age, salary, and tenure using visualization, correlation, and outlier detection.</a:t>
            </a:r>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an overview of the dataset.</a:t>
            </a:r>
          </a:p>
          <a:p>
            <a:endParaRPr lang="en-US" dirty="0"/>
          </a:p>
          <a:p>
            <a:r>
              <a:rPr lang="en-US" dirty="0"/>
              <a:t>The dataset originally contains </a:t>
            </a:r>
            <a:r>
              <a:rPr lang="en-US" b="1" dirty="0"/>
              <a:t>10 records</a:t>
            </a:r>
            <a:r>
              <a:rPr lang="en-US" dirty="0"/>
              <a:t>, and after cleaning, it was reduced to </a:t>
            </a:r>
            <a:r>
              <a:rPr lang="en-US" b="1" dirty="0"/>
              <a:t>9 records</a:t>
            </a:r>
            <a:r>
              <a:rPr lang="en-US" dirty="0"/>
              <a:t> due to the removal of duplicate entries.</a:t>
            </a:r>
          </a:p>
          <a:p>
            <a:endParaRPr lang="en-US" dirty="0"/>
          </a:p>
          <a:p>
            <a:r>
              <a:rPr lang="en-US" dirty="0"/>
              <a:t>Several new columns were created to support the analysis. These include </a:t>
            </a:r>
            <a:r>
              <a:rPr lang="en-US" b="1" dirty="0" err="1"/>
              <a:t>Salary_NZD</a:t>
            </a:r>
            <a:r>
              <a:rPr lang="en-US" dirty="0"/>
              <a:t>, which standardizes salary into a single currency, and </a:t>
            </a:r>
            <a:r>
              <a:rPr lang="en-US" b="1" dirty="0" err="1"/>
              <a:t>Tenure_Years</a:t>
            </a:r>
            <a:r>
              <a:rPr lang="en-US" dirty="0"/>
              <a:t>, which is calculated from the join date. I also added </a:t>
            </a:r>
            <a:r>
              <a:rPr lang="en-US" b="1" dirty="0"/>
              <a:t>outlier flags</a:t>
            </a:r>
            <a:r>
              <a:rPr lang="en-US" dirty="0"/>
              <a:t> for age and salary to help identify unusual values.</a:t>
            </a:r>
          </a:p>
          <a:p>
            <a:endParaRPr lang="en-US" dirty="0"/>
          </a:p>
          <a:p>
            <a:r>
              <a:rPr lang="en-US" dirty="0"/>
              <a:t>The dataset contains several data quality issues. These include </a:t>
            </a:r>
            <a:r>
              <a:rPr lang="en-US" b="1" dirty="0"/>
              <a:t>missing values</a:t>
            </a:r>
            <a:r>
              <a:rPr lang="en-US" dirty="0"/>
              <a:t>, </a:t>
            </a:r>
            <a:r>
              <a:rPr lang="en-US" b="1" dirty="0"/>
              <a:t>text instead of numeric values</a:t>
            </a:r>
            <a:r>
              <a:rPr lang="en-US" dirty="0"/>
              <a:t>, such as “thirty-eight”, </a:t>
            </a:r>
            <a:r>
              <a:rPr lang="en-US" b="1" dirty="0"/>
              <a:t>duplicate records</a:t>
            </a:r>
            <a:r>
              <a:rPr lang="en-US" dirty="0"/>
              <a:t>, and </a:t>
            </a:r>
            <a:r>
              <a:rPr lang="en-US" b="1" dirty="0"/>
              <a:t>inconsistent country codes</a:t>
            </a:r>
            <a:r>
              <a:rPr lang="en-US" dirty="0"/>
              <a:t>.</a:t>
            </a:r>
          </a:p>
          <a:p>
            <a:endParaRPr lang="en-US" dirty="0"/>
          </a:p>
          <a:p>
            <a:r>
              <a:rPr lang="en-US" dirty="0"/>
              <a:t>In addition, salary values were recorded in </a:t>
            </a:r>
            <a:r>
              <a:rPr lang="en-US" b="1" dirty="0"/>
              <a:t>different currencies</a:t>
            </a:r>
            <a:r>
              <a:rPr lang="en-US" dirty="0"/>
              <a:t>, specifically NZD and AUD, which required standardization to ensure a fair comparison.</a:t>
            </a:r>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was cleaned in three steps.</a:t>
            </a:r>
            <a:br>
              <a:rPr lang="en-US" dirty="0"/>
            </a:br>
            <a:r>
              <a:rPr lang="en-US" dirty="0"/>
              <a:t>Data scrubbing converted text values into numbers, merged duplicate IDs, and fixed invalid dates.</a:t>
            </a:r>
            <a:br>
              <a:rPr lang="en-US" dirty="0"/>
            </a:br>
            <a:r>
              <a:rPr lang="en-US" dirty="0"/>
              <a:t>Data munging standardized formats like country codes and names.</a:t>
            </a:r>
            <a:br>
              <a:rPr lang="en-US" dirty="0"/>
            </a:br>
            <a:r>
              <a:rPr lang="en-US" dirty="0"/>
              <a:t>Data wrangling filled missing values, converted salary to NZD, created tenure, and added outlier detection using the IQR method.</a:t>
            </a:r>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501160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outlier analysis using the IQR method. The upper fence is $77,400, and Charlie’s salary of $77,760 is slightly above this threshold, so it is detected as an outlier. </a:t>
            </a:r>
          </a:p>
          <a:p>
            <a:endParaRPr lang="en-US" dirty="0"/>
          </a:p>
          <a:p>
            <a:r>
              <a:rPr lang="en-US" dirty="0"/>
              <a:t>However, this outlier is not due to an unusually high salary, but rather the result of converting AUD to NZD. This shows that data transformations can affect outlier detection and should be interpreted carefully.</a:t>
            </a:r>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2994759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39921-CFBB-DE6F-31EB-81B758CA0268}"/>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Age has a moderate positive relationship with salary (r = 0.54)</a:t>
            </a:r>
            <a:r>
              <a:rPr lang="en-US" sz="1200" b="0" i="0" kern="1200" dirty="0">
                <a:solidFill>
                  <a:schemeClr val="tx1"/>
                </a:solidFill>
                <a:effectLst/>
                <a:latin typeface="+mn-lt"/>
                <a:ea typeface="+mn-ea"/>
                <a:cs typeface="+mn-cs"/>
              </a:rPr>
              <a:t> - There is a moderate positive correlation (r = 0.54) between age and salary (in NZD), indicating that older employees generally earn more. On average, salary increases by approximately $601 NZD per year of age, showing a clear upward trend, although the relationship is not very strong.</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Grace (22) is an exception to the trend</a:t>
            </a:r>
            <a:r>
              <a:rPr lang="en-US" sz="1200" b="0" i="0" kern="1200" dirty="0">
                <a:solidFill>
                  <a:schemeClr val="tx1"/>
                </a:solidFill>
                <a:effectLst/>
                <a:latin typeface="+mn-lt"/>
                <a:ea typeface="+mn-ea"/>
                <a:cs typeface="+mn-cs"/>
              </a:rPr>
              <a:t> - Although younger employees usually earn less, Grace (22) earns $64,000 NZD, which is $2,720 above the average salary of employees aged 30 and under ($61,280 NZD). She earns more than several older employees, showing that salary is influenced by other factors.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Tenure has no meaningful relationship with salary (r = -0.12)</a:t>
            </a:r>
            <a:r>
              <a:rPr lang="en-US" sz="1200" b="0" i="0" kern="1200" dirty="0">
                <a:solidFill>
                  <a:schemeClr val="tx1"/>
                </a:solidFill>
                <a:effectLst/>
                <a:latin typeface="+mn-lt"/>
                <a:ea typeface="+mn-ea"/>
                <a:cs typeface="+mn-cs"/>
              </a:rPr>
              <a:t> - The correlation between tenure and salary is very weak and slightly negative (r = -0.12), meaning that years of service do not increase salary. In some cases, employees with longer tenure may even earn less than newer employees, suggesting that tenure is not a key factor in salary decisions..</a:t>
            </a:r>
          </a:p>
          <a:p>
            <a:endParaRPr lang="en-US" dirty="0"/>
          </a:p>
        </p:txBody>
      </p:sp>
      <p:sp>
        <p:nvSpPr>
          <p:cNvPr id="4" name="Slide Number Placeholder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3727777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2D1DB-5107-6643-5AEE-65E761A27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C64D6-2248-2D31-D7D7-A8B72D6BF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29459F-0A84-128B-DDAB-DF235D64ABED}"/>
              </a:ext>
            </a:extLst>
          </p:cNvPr>
          <p:cNvSpPr>
            <a:spLocks noGrp="1"/>
          </p:cNvSpPr>
          <p:nvPr>
            <p:ph type="body" idx="1"/>
          </p:nvPr>
        </p:nvSpPr>
        <p:spPr/>
        <p:txBody>
          <a:bodyPr/>
          <a:lstStyle/>
          <a:p>
            <a:r>
              <a:rPr lang="en-US" dirty="0"/>
              <a:t>In conclusion, this activity shows that real-world data is often messy, so proper cleaning is very important to avoid incorrect results. </a:t>
            </a:r>
          </a:p>
          <a:p>
            <a:endParaRPr lang="en-US" dirty="0"/>
          </a:p>
          <a:p>
            <a:r>
              <a:rPr lang="en-US" dirty="0"/>
              <a:t>Even with a small dataset, meaningful insights can still be obtained when the data is prepared properly. </a:t>
            </a:r>
          </a:p>
          <a:p>
            <a:endParaRPr lang="en-US" dirty="0"/>
          </a:p>
          <a:p>
            <a:r>
              <a:rPr lang="en-US" dirty="0"/>
              <a:t>However, transformations like currency conversion can affect the results, so they must be interpreted carefully</a:t>
            </a:r>
          </a:p>
        </p:txBody>
      </p:sp>
      <p:sp>
        <p:nvSpPr>
          <p:cNvPr id="4" name="Slide Number Placeholder 3">
            <a:extLst>
              <a:ext uri="{FF2B5EF4-FFF2-40B4-BE49-F238E27FC236}">
                <a16:creationId xmlns:a16="http://schemas.microsoft.com/office/drawing/2014/main" id="{9376EF0A-9D04-544B-043E-4A487DF94015}"/>
              </a:ext>
            </a:extLst>
          </p:cNvPr>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584566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1.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6309904" y="411479"/>
            <a:ext cx="5486400" cy="3291840"/>
          </a:xfrm>
        </p:spPr>
        <p:txBody>
          <a:bodyPr anchor="b">
            <a:normAutofit/>
          </a:bodyPr>
          <a:lstStyle/>
          <a:p>
            <a:r>
              <a:rPr lang="en-US" sz="4000" dirty="0"/>
              <a:t>Data Cleaning and Data Visualization</a:t>
            </a:r>
            <a:endParaRPr lang="en-US" sz="4000" b="0" dirty="0"/>
          </a:p>
        </p:txBody>
      </p:sp>
      <p:sp>
        <p:nvSpPr>
          <p:cNvPr id="7" name="Text Placeholder 2">
            <a:extLst>
              <a:ext uri="{FF2B5EF4-FFF2-40B4-BE49-F238E27FC236}">
                <a16:creationId xmlns:a16="http://schemas.microsoft.com/office/drawing/2014/main" id="{0C63C37E-3294-A27E-583E-46D92BBC8785}"/>
              </a:ext>
            </a:extLst>
          </p:cNvPr>
          <p:cNvSpPr>
            <a:spLocks noGrp="1"/>
          </p:cNvSpPr>
          <p:nvPr>
            <p:ph type="body" sz="quarter" idx="11"/>
          </p:nvPr>
        </p:nvSpPr>
        <p:spPr>
          <a:xfrm>
            <a:off x="6309905" y="4549552"/>
            <a:ext cx="4533499" cy="1645920"/>
          </a:xfrm>
        </p:spPr>
        <p:txBody>
          <a:bodyPr/>
          <a:lstStyle/>
          <a:p>
            <a:r>
              <a:rPr lang="en-US" dirty="0">
                <a:solidFill>
                  <a:schemeClr val="bg1"/>
                </a:solidFill>
                <a:latin typeface="+mj-lt"/>
              </a:rPr>
              <a:t>With Correlation Heatmap using Pearson Algorithm</a:t>
            </a:r>
          </a:p>
          <a:p>
            <a:endParaRPr lang="en-US" dirty="0"/>
          </a:p>
          <a:p>
            <a:r>
              <a:rPr lang="en-US" dirty="0"/>
              <a:t>By: Roxanne Prajapati</a:t>
            </a:r>
          </a:p>
        </p:txBody>
      </p:sp>
      <p:pic>
        <p:nvPicPr>
          <p:cNvPr id="5" name="Audio 4">
            <a:hlinkClick r:id="" action="ppaction://media"/>
            <a:extLst>
              <a:ext uri="{FF2B5EF4-FFF2-40B4-BE49-F238E27FC236}">
                <a16:creationId xmlns:a16="http://schemas.microsoft.com/office/drawing/2014/main" id="{68197C3B-F867-594E-8B45-C39E2873590B}"/>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390304222"/>
      </p:ext>
    </p:extLst>
  </p:cSld>
  <p:clrMapOvr>
    <a:masterClrMapping/>
  </p:clrMapOvr>
  <mc:AlternateContent xmlns:mc="http://schemas.openxmlformats.org/markup-compatibility/2006">
    <mc:Choice xmlns:p14="http://schemas.microsoft.com/office/powerpoint/2010/main" Requires="p14">
      <p:transition spd="slow" p14:dur="2000" advTm="1478"/>
    </mc:Choice>
    <mc:Fallback>
      <p:transition spd="slow" advTm="14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dirty="0"/>
              <a:t>Overview</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724" y="2281238"/>
            <a:ext cx="7722139" cy="3709987"/>
          </a:xfrm>
        </p:spPr>
        <p:txBody>
          <a:bodyPr tIns="457200">
            <a:normAutofit/>
          </a:bodyPr>
          <a:lstStyle/>
          <a:p>
            <a:pPr marL="0" indent="0">
              <a:buNone/>
            </a:pPr>
            <a:r>
              <a:rPr lang="en-US" sz="2800" dirty="0">
                <a:latin typeface="+mj-lt"/>
              </a:rPr>
              <a:t>GOAL : </a:t>
            </a:r>
            <a:r>
              <a:rPr lang="en-US" sz="2800" dirty="0"/>
              <a:t>Clean and analyze a messy dataset</a:t>
            </a:r>
          </a:p>
          <a:p>
            <a:pPr marL="0" indent="0">
              <a:buNone/>
            </a:pPr>
            <a:r>
              <a:rPr lang="en-US" sz="2800" dirty="0">
                <a:latin typeface="+mj-lt"/>
              </a:rPr>
              <a:t>FOCUS: </a:t>
            </a:r>
            <a:r>
              <a:rPr lang="en-US" sz="2800" dirty="0"/>
              <a:t>Relationship between Age, Salary, and Tenure</a:t>
            </a:r>
          </a:p>
          <a:p>
            <a:pPr marL="0" indent="0">
              <a:buNone/>
            </a:pPr>
            <a:r>
              <a:rPr lang="en-US" sz="2800" dirty="0">
                <a:latin typeface="+mj-lt"/>
              </a:rPr>
              <a:t>METHODS: </a:t>
            </a:r>
            <a:r>
              <a:rPr lang="en-US" sz="2800" dirty="0"/>
              <a:t>Data cleaning, visualization, correlation, outlier detection</a:t>
            </a:r>
            <a:endParaRPr lang="en-US" sz="2800" dirty="0">
              <a:latin typeface="+mj-lt"/>
            </a:endParaRPr>
          </a:p>
        </p:txBody>
      </p:sp>
      <p:pic>
        <p:nvPicPr>
          <p:cNvPr id="7" name="Audio 6">
            <a:hlinkClick r:id="" action="ppaction://media"/>
            <a:extLst>
              <a:ext uri="{FF2B5EF4-FFF2-40B4-BE49-F238E27FC236}">
                <a16:creationId xmlns:a16="http://schemas.microsoft.com/office/drawing/2014/main" id="{E55D2CDB-58E4-F7F7-76AB-F58F42F86B54}"/>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346685798"/>
      </p:ext>
    </p:extLst>
  </p:cSld>
  <p:clrMapOvr>
    <a:masterClrMapping/>
  </p:clrMapOvr>
  <mc:AlternateContent xmlns:mc="http://schemas.openxmlformats.org/markup-compatibility/2006">
    <mc:Choice xmlns:p14="http://schemas.microsoft.com/office/powerpoint/2010/main" Requires="p14">
      <p:transition spd="slow" p14:dur="2000" advTm="20025"/>
    </mc:Choice>
    <mc:Fallback>
      <p:transition spd="slow" advTm="200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577970"/>
            <a:ext cx="10873740" cy="1205110"/>
          </a:xfrm>
        </p:spPr>
        <p:txBody>
          <a:bodyPr/>
          <a:lstStyle/>
          <a:p>
            <a:r>
              <a:rPr lang="en-US" dirty="0"/>
              <a:t>Dataset Overview</a:t>
            </a:r>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6" name="TextBox 5">
            <a:extLst>
              <a:ext uri="{FF2B5EF4-FFF2-40B4-BE49-F238E27FC236}">
                <a16:creationId xmlns:a16="http://schemas.microsoft.com/office/drawing/2014/main" id="{C8CE37D1-C935-2737-4E60-BBC2A93EBC12}"/>
              </a:ext>
            </a:extLst>
          </p:cNvPr>
          <p:cNvSpPr txBox="1"/>
          <p:nvPr/>
        </p:nvSpPr>
        <p:spPr>
          <a:xfrm>
            <a:off x="2969666" y="2075755"/>
            <a:ext cx="7539487" cy="5047536"/>
          </a:xfrm>
          <a:prstGeom prst="rect">
            <a:avLst/>
          </a:prstGeom>
          <a:noFill/>
        </p:spPr>
        <p:txBody>
          <a:bodyPr wrap="square" rtlCol="0">
            <a:spAutoFit/>
          </a:bodyPr>
          <a:lstStyle/>
          <a:p>
            <a:pPr lvl="0" eaLnBrk="0" fontAlgn="base" hangingPunct="0">
              <a:spcBef>
                <a:spcPct val="0"/>
              </a:spcBef>
              <a:spcAft>
                <a:spcPct val="0"/>
              </a:spcAft>
            </a:pPr>
            <a:r>
              <a:rPr lang="en-US" altLang="en-US" sz="2000" dirty="0">
                <a:solidFill>
                  <a:schemeClr val="bg1"/>
                </a:solidFill>
                <a:latin typeface="+mj-lt"/>
                <a:cs typeface="Arial" panose="020B0604020202020204" pitchFamily="34" charset="0"/>
              </a:rPr>
              <a:t>Number records before cleaning: </a:t>
            </a:r>
            <a:r>
              <a:rPr lang="en-US" altLang="en-US" sz="2000" b="1" dirty="0">
                <a:solidFill>
                  <a:schemeClr val="bg1"/>
                </a:solidFill>
                <a:latin typeface="+mj-lt"/>
                <a:cs typeface="Arial" panose="020B0604020202020204" pitchFamily="34" charset="0"/>
              </a:rPr>
              <a:t>10</a:t>
            </a:r>
            <a:endParaRPr lang="en-US" altLang="en-US" sz="2000" b="1" dirty="0">
              <a:solidFill>
                <a:schemeClr val="bg1"/>
              </a:solidFill>
              <a:cs typeface="Arial" panose="020B0604020202020204" pitchFamily="34" charset="0"/>
            </a:endParaRPr>
          </a:p>
          <a:p>
            <a:pPr eaLnBrk="0" fontAlgn="base" hangingPunct="0">
              <a:spcBef>
                <a:spcPct val="0"/>
              </a:spcBef>
              <a:spcAft>
                <a:spcPct val="0"/>
              </a:spcAft>
            </a:pPr>
            <a:r>
              <a:rPr lang="en-US" altLang="en-US" sz="2000" dirty="0">
                <a:solidFill>
                  <a:schemeClr val="bg1"/>
                </a:solidFill>
                <a:latin typeface="+mj-lt"/>
                <a:cs typeface="Arial" panose="020B0604020202020204" pitchFamily="34" charset="0"/>
              </a:rPr>
              <a:t>Number of records after cleaning: 9</a:t>
            </a:r>
            <a:endParaRPr lang="en-US" altLang="en-US" sz="2000" dirty="0">
              <a:solidFill>
                <a:schemeClr val="bg1"/>
              </a:solidFill>
              <a:cs typeface="Arial" panose="020B0604020202020204" pitchFamily="34" charset="0"/>
            </a:endParaRPr>
          </a:p>
          <a:p>
            <a:pPr lvl="0" eaLnBrk="0" fontAlgn="base" hangingPunct="0">
              <a:spcBef>
                <a:spcPct val="0"/>
              </a:spcBef>
              <a:spcAft>
                <a:spcPct val="0"/>
              </a:spcAft>
            </a:pPr>
            <a:endParaRPr lang="en-US" altLang="en-US" sz="2000" dirty="0">
              <a:solidFill>
                <a:schemeClr val="bg1"/>
              </a:solidFill>
              <a:cs typeface="Arial" panose="020B0604020202020204" pitchFamily="34" charset="0"/>
            </a:endParaRPr>
          </a:p>
          <a:p>
            <a:pPr lvl="0" eaLnBrk="0" fontAlgn="base" hangingPunct="0">
              <a:spcBef>
                <a:spcPct val="0"/>
              </a:spcBef>
              <a:spcAft>
                <a:spcPct val="0"/>
              </a:spcAft>
            </a:pPr>
            <a:r>
              <a:rPr lang="en-US" altLang="en-US" sz="2000" dirty="0">
                <a:solidFill>
                  <a:schemeClr val="bg1"/>
                </a:solidFill>
                <a:latin typeface="+mj-lt"/>
                <a:cs typeface="Arial" panose="020B0604020202020204" pitchFamily="34" charset="0"/>
              </a:rPr>
              <a:t>New columns: </a:t>
            </a:r>
          </a:p>
          <a:p>
            <a:pPr marL="914400" lvl="1" indent="-457200" eaLnBrk="0" fontAlgn="base" hangingPunct="0">
              <a:spcBef>
                <a:spcPct val="0"/>
              </a:spcBef>
              <a:spcAft>
                <a:spcPct val="0"/>
              </a:spcAft>
              <a:buFont typeface="Wingdings" panose="05000000000000000000" pitchFamily="2" charset="2"/>
              <a:buChar char="Ø"/>
            </a:pPr>
            <a:r>
              <a:rPr lang="en-US" altLang="en-US" sz="2000" dirty="0" err="1">
                <a:solidFill>
                  <a:schemeClr val="bg1"/>
                </a:solidFill>
                <a:cs typeface="Arial" panose="020B0604020202020204" pitchFamily="34" charset="0"/>
              </a:rPr>
              <a:t>Salary_NZD</a:t>
            </a:r>
            <a:endParaRPr lang="en-US" altLang="en-US" sz="2000" dirty="0">
              <a:solidFill>
                <a:schemeClr val="bg1"/>
              </a:solidFill>
              <a:cs typeface="Arial" panose="020B0604020202020204" pitchFamily="34" charset="0"/>
            </a:endParaRPr>
          </a:p>
          <a:p>
            <a:pPr marL="914400" lvl="1" indent="-457200" eaLnBrk="0" fontAlgn="base" hangingPunct="0">
              <a:spcBef>
                <a:spcPct val="0"/>
              </a:spcBef>
              <a:spcAft>
                <a:spcPct val="0"/>
              </a:spcAft>
              <a:buFont typeface="Wingdings" panose="05000000000000000000" pitchFamily="2" charset="2"/>
              <a:buChar char="Ø"/>
            </a:pPr>
            <a:r>
              <a:rPr lang="en-US" altLang="en-US" sz="2000" dirty="0" err="1">
                <a:solidFill>
                  <a:schemeClr val="bg1"/>
                </a:solidFill>
                <a:cs typeface="Arial" panose="020B0604020202020204" pitchFamily="34" charset="0"/>
              </a:rPr>
              <a:t>Tenure_Years</a:t>
            </a:r>
            <a:r>
              <a:rPr lang="en-US" altLang="en-US" sz="2000" dirty="0">
                <a:solidFill>
                  <a:schemeClr val="bg1"/>
                </a:solidFill>
                <a:cs typeface="Arial" panose="020B0604020202020204" pitchFamily="34" charset="0"/>
              </a:rPr>
              <a:t> (derived from join date)</a:t>
            </a:r>
          </a:p>
          <a:p>
            <a:pPr marL="914400" lvl="1" indent="-457200" eaLnBrk="0" fontAlgn="base" hangingPunct="0">
              <a:spcBef>
                <a:spcPct val="0"/>
              </a:spcBef>
              <a:spcAft>
                <a:spcPct val="0"/>
              </a:spcAft>
              <a:buFont typeface="Wingdings" panose="05000000000000000000" pitchFamily="2" charset="2"/>
              <a:buChar char="Ø"/>
            </a:pPr>
            <a:r>
              <a:rPr lang="en-US" altLang="en-US" sz="2000" dirty="0" err="1">
                <a:solidFill>
                  <a:schemeClr val="bg1"/>
                </a:solidFill>
                <a:cs typeface="Arial" panose="020B0604020202020204" pitchFamily="34" charset="0"/>
              </a:rPr>
              <a:t>Age_Outlier</a:t>
            </a:r>
            <a:r>
              <a:rPr lang="en-US" altLang="en-US" sz="2000" dirty="0">
                <a:solidFill>
                  <a:schemeClr val="bg1"/>
                </a:solidFill>
                <a:cs typeface="Arial" panose="020B0604020202020204" pitchFamily="34" charset="0"/>
              </a:rPr>
              <a:t> (True/False)</a:t>
            </a:r>
          </a:p>
          <a:p>
            <a:pPr marL="914400" lvl="1" indent="-457200" eaLnBrk="0" fontAlgn="base" hangingPunct="0">
              <a:spcBef>
                <a:spcPct val="0"/>
              </a:spcBef>
              <a:spcAft>
                <a:spcPct val="0"/>
              </a:spcAft>
              <a:buFont typeface="Wingdings" panose="05000000000000000000" pitchFamily="2" charset="2"/>
              <a:buChar char="Ø"/>
            </a:pPr>
            <a:r>
              <a:rPr lang="en-US" altLang="en-US" sz="2000" dirty="0" err="1">
                <a:solidFill>
                  <a:schemeClr val="bg1"/>
                </a:solidFill>
                <a:cs typeface="Arial" panose="020B0604020202020204" pitchFamily="34" charset="0"/>
              </a:rPr>
              <a:t>Salary_NZD_Outliers</a:t>
            </a:r>
            <a:r>
              <a:rPr lang="en-US" altLang="en-US" sz="2000" dirty="0">
                <a:solidFill>
                  <a:schemeClr val="bg1"/>
                </a:solidFill>
                <a:cs typeface="Arial" panose="020B0604020202020204" pitchFamily="34" charset="0"/>
              </a:rPr>
              <a:t> (True/False)</a:t>
            </a:r>
            <a:br>
              <a:rPr lang="en-US" altLang="en-US" sz="2000" dirty="0">
                <a:solidFill>
                  <a:schemeClr val="bg1"/>
                </a:solidFill>
                <a:cs typeface="Arial" panose="020B0604020202020204" pitchFamily="34" charset="0"/>
              </a:rPr>
            </a:br>
            <a:r>
              <a:rPr lang="en-US" altLang="en-US" sz="2000" dirty="0">
                <a:solidFill>
                  <a:schemeClr val="bg1"/>
                </a:solidFill>
                <a:cs typeface="Arial" panose="020B0604020202020204" pitchFamily="34" charset="0"/>
              </a:rPr>
              <a:t> </a:t>
            </a:r>
          </a:p>
          <a:p>
            <a:pPr eaLnBrk="0" fontAlgn="base" hangingPunct="0">
              <a:spcBef>
                <a:spcPct val="0"/>
              </a:spcBef>
              <a:spcAft>
                <a:spcPct val="0"/>
              </a:spcAft>
            </a:pPr>
            <a:r>
              <a:rPr lang="en-US" altLang="en-US" sz="2000" dirty="0">
                <a:solidFill>
                  <a:schemeClr val="bg1"/>
                </a:solidFill>
                <a:latin typeface="+mj-lt"/>
                <a:cs typeface="Arial" panose="020B0604020202020204" pitchFamily="34" charset="0"/>
              </a:rPr>
              <a:t>Issues Found:</a:t>
            </a:r>
            <a:endParaRPr lang="en-US" altLang="en-US" sz="2000" dirty="0">
              <a:solidFill>
                <a:schemeClr val="bg1"/>
              </a:solidFill>
              <a:cs typeface="Arial" panose="020B0604020202020204" pitchFamily="34" charset="0"/>
            </a:endParaRPr>
          </a:p>
          <a:p>
            <a:pPr marL="800100" lvl="1" indent="-342900" eaLnBrk="0" fontAlgn="base" hangingPunct="0">
              <a:spcBef>
                <a:spcPct val="0"/>
              </a:spcBef>
              <a:spcAft>
                <a:spcPct val="0"/>
              </a:spcAft>
              <a:buFont typeface="Wingdings" panose="05000000000000000000" pitchFamily="2" charset="2"/>
              <a:buChar char="Ø"/>
            </a:pPr>
            <a:r>
              <a:rPr lang="en-US" altLang="en-US" sz="2000" dirty="0">
                <a:solidFill>
                  <a:schemeClr val="bg1"/>
                </a:solidFill>
                <a:cs typeface="Arial" panose="020B0604020202020204" pitchFamily="34" charset="0"/>
              </a:rPr>
              <a:t>Missing Values</a:t>
            </a:r>
          </a:p>
          <a:p>
            <a:pPr marL="800100" lvl="1" indent="-342900" eaLnBrk="0" fontAlgn="base" hangingPunct="0">
              <a:spcBef>
                <a:spcPct val="0"/>
              </a:spcBef>
              <a:spcAft>
                <a:spcPct val="0"/>
              </a:spcAft>
              <a:buFont typeface="Wingdings" panose="05000000000000000000" pitchFamily="2" charset="2"/>
              <a:buChar char="Ø"/>
            </a:pPr>
            <a:r>
              <a:rPr lang="en-US" sz="2000" dirty="0">
                <a:solidFill>
                  <a:schemeClr val="bg1"/>
                </a:solidFill>
              </a:rPr>
              <a:t>Text instead of numbers (e.g., “thirty-eight”)</a:t>
            </a:r>
          </a:p>
          <a:p>
            <a:pPr marL="800100" lvl="1" indent="-342900" eaLnBrk="0" fontAlgn="base" hangingPunct="0">
              <a:spcBef>
                <a:spcPct val="0"/>
              </a:spcBef>
              <a:spcAft>
                <a:spcPct val="0"/>
              </a:spcAft>
              <a:buFont typeface="Wingdings" panose="05000000000000000000" pitchFamily="2" charset="2"/>
              <a:buChar char="Ø"/>
            </a:pPr>
            <a:r>
              <a:rPr lang="en-CA" sz="2000" dirty="0">
                <a:solidFill>
                  <a:schemeClr val="bg1"/>
                </a:solidFill>
              </a:rPr>
              <a:t>Duplicate records</a:t>
            </a:r>
          </a:p>
          <a:p>
            <a:pPr marL="800100" lvl="1" indent="-342900" eaLnBrk="0" fontAlgn="base" hangingPunct="0">
              <a:spcBef>
                <a:spcPct val="0"/>
              </a:spcBef>
              <a:spcAft>
                <a:spcPct val="0"/>
              </a:spcAft>
              <a:buFont typeface="Wingdings" panose="05000000000000000000" pitchFamily="2" charset="2"/>
              <a:buChar char="Ø"/>
            </a:pPr>
            <a:r>
              <a:rPr lang="en-CA" sz="2000" dirty="0">
                <a:solidFill>
                  <a:schemeClr val="bg1"/>
                </a:solidFill>
              </a:rPr>
              <a:t>Inconsistent country codes</a:t>
            </a:r>
          </a:p>
          <a:p>
            <a:pPr marL="800100" lvl="1" indent="-342900" eaLnBrk="0" fontAlgn="base" hangingPunct="0">
              <a:spcBef>
                <a:spcPct val="0"/>
              </a:spcBef>
              <a:spcAft>
                <a:spcPct val="0"/>
              </a:spcAft>
              <a:buFont typeface="Wingdings" panose="05000000000000000000" pitchFamily="2" charset="2"/>
              <a:buChar char="Ø"/>
            </a:pPr>
            <a:r>
              <a:rPr lang="en-US" sz="2000" dirty="0">
                <a:solidFill>
                  <a:schemeClr val="bg1"/>
                </a:solidFill>
              </a:rPr>
              <a:t>Salary values in different currencies (NZD and AUD)</a:t>
            </a:r>
            <a:endParaRPr lang="en-US" altLang="en-US" sz="2000" dirty="0">
              <a:solidFill>
                <a:schemeClr val="bg1"/>
              </a:solidFill>
              <a:cs typeface="Arial" panose="020B0604020202020204" pitchFamily="34" charset="0"/>
            </a:endParaRPr>
          </a:p>
          <a:p>
            <a:pPr eaLnBrk="0" fontAlgn="base" hangingPunct="0">
              <a:spcBef>
                <a:spcPct val="0"/>
              </a:spcBef>
              <a:spcAft>
                <a:spcPct val="0"/>
              </a:spcAft>
            </a:pPr>
            <a:endParaRPr lang="en-US" altLang="en-US" sz="2200" dirty="0">
              <a:solidFill>
                <a:schemeClr val="bg1"/>
              </a:solidFill>
              <a:cs typeface="Arial" panose="020B0604020202020204" pitchFamily="34" charset="0"/>
            </a:endParaRPr>
          </a:p>
        </p:txBody>
      </p:sp>
      <p:pic>
        <p:nvPicPr>
          <p:cNvPr id="7" name="Audio 6">
            <a:hlinkClick r:id="" action="ppaction://media"/>
            <a:extLst>
              <a:ext uri="{FF2B5EF4-FFF2-40B4-BE49-F238E27FC236}">
                <a16:creationId xmlns:a16="http://schemas.microsoft.com/office/drawing/2014/main" id="{A4B49EE7-4034-DB12-EE7D-9200F678A41F}"/>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200312026"/>
      </p:ext>
    </p:extLst>
  </p:cSld>
  <p:clrMapOvr>
    <a:masterClrMapping/>
  </p:clrMapOvr>
  <mc:AlternateContent xmlns:mc="http://schemas.openxmlformats.org/markup-compatibility/2006">
    <mc:Choice xmlns:p14="http://schemas.microsoft.com/office/powerpoint/2010/main" Requires="p14">
      <p:transition spd="slow" p14:dur="2000" advTm="82589"/>
    </mc:Choice>
    <mc:Fallback>
      <p:transition spd="slow" advTm="8258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29B5-1B58-809F-FEA7-B82105E94664}"/>
              </a:ext>
            </a:extLst>
          </p:cNvPr>
          <p:cNvSpPr>
            <a:spLocks noGrp="1"/>
          </p:cNvSpPr>
          <p:nvPr>
            <p:ph type="title"/>
          </p:nvPr>
        </p:nvSpPr>
        <p:spPr>
          <a:xfrm>
            <a:off x="6318884" y="3499667"/>
            <a:ext cx="5395787" cy="2542810"/>
          </a:xfrm>
        </p:spPr>
        <p:txBody>
          <a:bodyPr/>
          <a:lstStyle/>
          <a:p>
            <a:r>
              <a:rPr lang="en-US" sz="4000" dirty="0"/>
              <a:t>Data Cleaning Process</a:t>
            </a:r>
          </a:p>
        </p:txBody>
      </p:sp>
      <p:sp>
        <p:nvSpPr>
          <p:cNvPr id="8" name="Rectangle 2">
            <a:extLst>
              <a:ext uri="{FF2B5EF4-FFF2-40B4-BE49-F238E27FC236}">
                <a16:creationId xmlns:a16="http://schemas.microsoft.com/office/drawing/2014/main" id="{FFADA302-6676-241B-294D-5BF125D8EC76}"/>
              </a:ext>
            </a:extLst>
          </p:cNvPr>
          <p:cNvSpPr>
            <a:spLocks noGrp="1" noChangeArrowheads="1"/>
          </p:cNvSpPr>
          <p:nvPr>
            <p:ph sz="quarter" idx="15"/>
          </p:nvPr>
        </p:nvSpPr>
        <p:spPr bwMode="auto">
          <a:xfrm>
            <a:off x="619604" y="603733"/>
            <a:ext cx="6711004"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mj-lt"/>
              </a:rPr>
              <a:t>Data Scrubbing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b="0" i="0" u="none" strike="noStrike" cap="none" normalizeH="0" baseline="0" dirty="0">
                <a:ln>
                  <a:noFill/>
                </a:ln>
                <a:effectLst/>
              </a:rPr>
              <a:t>Fixed text values - numbers (e.g., “thirty-eight” to 38)</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b="0" i="0" u="none" strike="noStrike" cap="none" normalizeH="0" baseline="0" dirty="0">
                <a:ln>
                  <a:noFill/>
                </a:ln>
                <a:effectLst/>
              </a:rPr>
              <a:t>Removed duplicates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b="0" i="0" u="none" strike="noStrike" cap="none" normalizeH="0" baseline="0" dirty="0">
                <a:ln>
                  <a:noFill/>
                </a:ln>
                <a:effectLst/>
              </a:rPr>
              <a:t>Fixed invalid date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mj-lt"/>
              </a:rPr>
              <a:t>Data Munging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b="0" i="0" u="none" strike="noStrike" cap="none" normalizeH="0" baseline="0" dirty="0">
                <a:ln>
                  <a:noFill/>
                </a:ln>
                <a:effectLst/>
              </a:rPr>
              <a:t>Standardized country codes (AU to AUS)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b="0" i="0" u="none" strike="noStrike" cap="none" normalizeH="0" baseline="0" dirty="0">
                <a:ln>
                  <a:noFill/>
                </a:ln>
                <a:effectLst/>
              </a:rPr>
              <a:t>Cleaned names and formats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b="0" i="0" u="none" strike="noStrike" cap="none" normalizeH="0" baseline="0" dirty="0">
                <a:ln>
                  <a:noFill/>
                </a:ln>
                <a:effectLst/>
              </a:rPr>
              <a:t>Converted data types</a:t>
            </a:r>
          </a:p>
          <a:p>
            <a:pPr marL="0" marR="0" lvl="0" indent="0" algn="l" defTabSz="914400" rtl="0" eaLnBrk="0" fontAlgn="base" latinLnBrk="0" hangingPunct="0">
              <a:lnSpc>
                <a:spcPct val="100000"/>
              </a:lnSpc>
              <a:spcBef>
                <a:spcPct val="0"/>
              </a:spcBef>
              <a:spcAft>
                <a:spcPct val="0"/>
              </a:spcAft>
              <a:buClrTx/>
              <a:buSzTx/>
              <a:tabLst/>
            </a:pPr>
            <a:endParaRPr lang="en-US" altLang="en-US" sz="2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mj-lt"/>
              </a:rPr>
              <a:t>Data Wrangling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b="0" i="0" u="none" strike="noStrike" cap="none" normalizeH="0" baseline="0" dirty="0">
                <a:ln>
                  <a:noFill/>
                </a:ln>
                <a:effectLst/>
              </a:rPr>
              <a:t>Filled missing values using median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b="0" i="0" u="none" strike="noStrike" cap="none" normalizeH="0" baseline="0" dirty="0">
                <a:ln>
                  <a:noFill/>
                </a:ln>
                <a:effectLst/>
              </a:rPr>
              <a:t>Created </a:t>
            </a:r>
            <a:r>
              <a:rPr kumimoji="0" lang="en-US" altLang="en-US" sz="2200" b="0" i="0" u="none" strike="noStrike" cap="none" normalizeH="0" baseline="0" dirty="0" err="1">
                <a:ln>
                  <a:noFill/>
                </a:ln>
                <a:effectLst/>
              </a:rPr>
              <a:t>Tenure_Years</a:t>
            </a:r>
            <a:endParaRPr kumimoji="0" lang="en-US" altLang="en-US" sz="2200" b="0" i="0" u="none" strike="noStrike" cap="none" normalizeH="0" baseline="0" dirty="0">
              <a:ln>
                <a:noFill/>
              </a:ln>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b="0" i="0" u="none" strike="noStrike" cap="none" normalizeH="0" baseline="0" dirty="0">
                <a:ln>
                  <a:noFill/>
                </a:ln>
                <a:effectLst/>
              </a:rPr>
              <a:t>Detected outliers using IQR</a:t>
            </a:r>
          </a:p>
          <a:p>
            <a:pPr marL="285750" lvl="0" indent="-285750" eaLnBrk="0" fontAlgn="base" hangingPunct="0">
              <a:lnSpc>
                <a:spcPct val="100000"/>
              </a:lnSpc>
              <a:spcBef>
                <a:spcPct val="0"/>
              </a:spcBef>
              <a:spcAft>
                <a:spcPct val="0"/>
              </a:spcAft>
              <a:buFont typeface="Wingdings" panose="05000000000000000000" pitchFamily="2" charset="2"/>
              <a:buChar char="ü"/>
            </a:pPr>
            <a:r>
              <a:rPr lang="en-CA" sz="2400" dirty="0"/>
              <a:t>Converted salary</a:t>
            </a:r>
            <a:endParaRPr kumimoji="0" lang="en-US" altLang="en-US" sz="22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effectLst/>
              <a:latin typeface="Arial" panose="020B0604020202020204" pitchFamily="34" charset="0"/>
            </a:endParaRPr>
          </a:p>
        </p:txBody>
      </p:sp>
      <p:pic>
        <p:nvPicPr>
          <p:cNvPr id="5" name="Audio 4">
            <a:hlinkClick r:id="" action="ppaction://media"/>
            <a:extLst>
              <a:ext uri="{FF2B5EF4-FFF2-40B4-BE49-F238E27FC236}">
                <a16:creationId xmlns:a16="http://schemas.microsoft.com/office/drawing/2014/main" id="{10953C8A-1B91-B544-82C0-299476496180}"/>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088225330"/>
      </p:ext>
    </p:extLst>
  </p:cSld>
  <p:clrMapOvr>
    <a:masterClrMapping/>
  </p:clrMapOvr>
  <mc:AlternateContent xmlns:mc="http://schemas.openxmlformats.org/markup-compatibility/2006">
    <mc:Choice xmlns:p14="http://schemas.microsoft.com/office/powerpoint/2010/main" Requires="p14">
      <p:transition spd="slow" p14:dur="2000" advTm="40070"/>
    </mc:Choice>
    <mc:Fallback>
      <p:transition spd="slow" advTm="400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FC2124B-254D-5D49-0046-454593E817C5}"/>
              </a:ext>
            </a:extLst>
          </p:cNvPr>
          <p:cNvSpPr>
            <a:spLocks noGrp="1"/>
          </p:cNvSpPr>
          <p:nvPr>
            <p:ph type="title"/>
          </p:nvPr>
        </p:nvSpPr>
        <p:spPr>
          <a:xfrm>
            <a:off x="594360" y="198408"/>
            <a:ext cx="10972800" cy="1574317"/>
          </a:xfrm>
        </p:spPr>
        <p:txBody>
          <a:bodyPr/>
          <a:lstStyle/>
          <a:p>
            <a:r>
              <a:rPr lang="en-US" dirty="0"/>
              <a:t>Outliers (IQR Method)</a:t>
            </a:r>
          </a:p>
        </p:txBody>
      </p:sp>
      <p:pic>
        <p:nvPicPr>
          <p:cNvPr id="5" name="Picture Placeholder 52">
            <a:extLst>
              <a:ext uri="{FF2B5EF4-FFF2-40B4-BE49-F238E27FC236}">
                <a16:creationId xmlns:a16="http://schemas.microsoft.com/office/drawing/2014/main" id="{F2B2501C-600C-11B3-1ECD-912D988906A5}"/>
              </a:ext>
            </a:extLst>
          </p:cNvPr>
          <p:cNvPicPr>
            <a:picLocks noGrp="1" noChangeAspect="1"/>
          </p:cNvPicPr>
          <p:nvPr>
            <p:ph sz="quarter" idx="13"/>
          </p:nvPr>
        </p:nvPicPr>
        <p:blipFill>
          <a:blip r:embed="rId5">
            <a:extLst>
              <a:ext uri="{28A0092B-C50C-407E-A947-70E740481C1C}">
                <a14:useLocalDpi xmlns:a14="http://schemas.microsoft.com/office/drawing/2010/main" val="0"/>
              </a:ext>
            </a:extLst>
          </a:blip>
          <a:srcRect/>
          <a:stretch/>
        </p:blipFill>
        <p:spPr>
          <a:xfrm>
            <a:off x="6681049" y="1772725"/>
            <a:ext cx="3459479" cy="2309203"/>
          </a:xfrm>
          <a:noFill/>
        </p:spPr>
      </p:pic>
      <p:sp>
        <p:nvSpPr>
          <p:cNvPr id="3" name="Content Placeholder 2">
            <a:extLst>
              <a:ext uri="{FF2B5EF4-FFF2-40B4-BE49-F238E27FC236}">
                <a16:creationId xmlns:a16="http://schemas.microsoft.com/office/drawing/2014/main" id="{34F2E863-4A4C-76FE-444A-083F93043389}"/>
              </a:ext>
            </a:extLst>
          </p:cNvPr>
          <p:cNvSpPr>
            <a:spLocks noGrp="1"/>
          </p:cNvSpPr>
          <p:nvPr>
            <p:ph sz="quarter" idx="14"/>
          </p:nvPr>
        </p:nvSpPr>
        <p:spPr>
          <a:xfrm>
            <a:off x="594360" y="2672134"/>
            <a:ext cx="5501640" cy="3826716"/>
          </a:xfrm>
        </p:spPr>
        <p:txBody>
          <a:bodyPr>
            <a:normAutofit/>
          </a:bodyPr>
          <a:lstStyle/>
          <a:p>
            <a:pPr>
              <a:buFont typeface="Wingdings" panose="05000000000000000000" pitchFamily="2" charset="2"/>
              <a:buChar char="Ø"/>
            </a:pPr>
            <a:r>
              <a:rPr lang="en-US" sz="2400" dirty="0"/>
              <a:t>Charlie: </a:t>
            </a:r>
            <a:r>
              <a:rPr lang="en-CA" sz="2400" dirty="0"/>
              <a:t>$77,760 NZD</a:t>
            </a:r>
          </a:p>
          <a:p>
            <a:pPr>
              <a:buFont typeface="Wingdings" panose="05000000000000000000" pitchFamily="2" charset="2"/>
              <a:buChar char="Ø"/>
            </a:pPr>
            <a:r>
              <a:rPr lang="en-US" sz="2400" dirty="0"/>
              <a:t>Slightly above upper fence detected as outlier after the currency conversion (AUD to NZD)</a:t>
            </a:r>
          </a:p>
          <a:p>
            <a:pPr lvl="1"/>
            <a:endParaRPr lang="en-US" dirty="0"/>
          </a:p>
        </p:txBody>
      </p:sp>
      <p:pic>
        <p:nvPicPr>
          <p:cNvPr id="6" name="Picture 5">
            <a:extLst>
              <a:ext uri="{FF2B5EF4-FFF2-40B4-BE49-F238E27FC236}">
                <a16:creationId xmlns:a16="http://schemas.microsoft.com/office/drawing/2014/main" id="{BAE54D6F-BA05-1D4C-7BDC-93B301626CDE}"/>
              </a:ext>
            </a:extLst>
          </p:cNvPr>
          <p:cNvPicPr>
            <a:picLocks noChangeAspect="1"/>
          </p:cNvPicPr>
          <p:nvPr/>
        </p:nvPicPr>
        <p:blipFill>
          <a:blip r:embed="rId6"/>
          <a:stretch>
            <a:fillRect/>
          </a:stretch>
        </p:blipFill>
        <p:spPr>
          <a:xfrm>
            <a:off x="6583681" y="4337039"/>
            <a:ext cx="4074551" cy="2161811"/>
          </a:xfrm>
          <a:prstGeom prst="rect">
            <a:avLst/>
          </a:prstGeom>
        </p:spPr>
      </p:pic>
      <p:pic>
        <p:nvPicPr>
          <p:cNvPr id="7" name="Audio 6">
            <a:hlinkClick r:id="" action="ppaction://media"/>
            <a:extLst>
              <a:ext uri="{FF2B5EF4-FFF2-40B4-BE49-F238E27FC236}">
                <a16:creationId xmlns:a16="http://schemas.microsoft.com/office/drawing/2014/main" id="{9D9AC9E3-F370-2645-4EBD-B7E9319CEDC7}"/>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98364507"/>
      </p:ext>
    </p:extLst>
  </p:cSld>
  <p:clrMapOvr>
    <a:masterClrMapping/>
  </p:clrMapOvr>
  <mc:AlternateContent xmlns:mc="http://schemas.openxmlformats.org/markup-compatibility/2006">
    <mc:Choice xmlns:p14="http://schemas.microsoft.com/office/powerpoint/2010/main" Requires="p14">
      <p:transition spd="slow" p14:dur="2000" advTm="48218"/>
    </mc:Choice>
    <mc:Fallback>
      <p:transition spd="slow" advTm="482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AB6D40A-2A0A-AF3D-8CF7-3ECD37765637}"/>
              </a:ext>
            </a:extLst>
          </p:cNvPr>
          <p:cNvSpPr>
            <a:spLocks noGrp="1"/>
          </p:cNvSpPr>
          <p:nvPr>
            <p:ph type="title"/>
          </p:nvPr>
        </p:nvSpPr>
        <p:spPr>
          <a:xfrm>
            <a:off x="594360" y="198408"/>
            <a:ext cx="10972800" cy="1574317"/>
          </a:xfrm>
        </p:spPr>
        <p:txBody>
          <a:bodyPr anchor="b">
            <a:normAutofit/>
          </a:bodyPr>
          <a:lstStyle/>
          <a:p>
            <a:r>
              <a:rPr lang="en-US" dirty="0"/>
              <a:t>Key Findings</a:t>
            </a:r>
          </a:p>
        </p:txBody>
      </p:sp>
      <p:pic>
        <p:nvPicPr>
          <p:cNvPr id="8" name="Content Placeholder 7">
            <a:extLst>
              <a:ext uri="{FF2B5EF4-FFF2-40B4-BE49-F238E27FC236}">
                <a16:creationId xmlns:a16="http://schemas.microsoft.com/office/drawing/2014/main" id="{8E5094D5-8B13-C78E-B972-11EB7CB4EF91}"/>
              </a:ext>
            </a:extLst>
          </p:cNvPr>
          <p:cNvPicPr>
            <a:picLocks noGrp="1" noChangeAspect="1"/>
          </p:cNvPicPr>
          <p:nvPr>
            <p:ph sz="quarter" idx="13"/>
          </p:nvPr>
        </p:nvPicPr>
        <p:blipFill>
          <a:blip r:embed="rId5"/>
          <a:stretch/>
        </p:blipFill>
        <p:spPr>
          <a:xfrm>
            <a:off x="225631" y="2291938"/>
            <a:ext cx="6721434" cy="4180114"/>
          </a:xfrm>
          <a:prstGeom prst="rect">
            <a:avLst/>
          </a:prstGeom>
          <a:noFill/>
        </p:spPr>
      </p:pic>
      <p:sp>
        <p:nvSpPr>
          <p:cNvPr id="16" name="Content Placeholder 3">
            <a:extLst>
              <a:ext uri="{FF2B5EF4-FFF2-40B4-BE49-F238E27FC236}">
                <a16:creationId xmlns:a16="http://schemas.microsoft.com/office/drawing/2014/main" id="{368141FD-0ED7-E844-16BD-15812AD65FE8}"/>
              </a:ext>
            </a:extLst>
          </p:cNvPr>
          <p:cNvSpPr>
            <a:spLocks noGrp="1"/>
          </p:cNvSpPr>
          <p:nvPr>
            <p:ph sz="quarter" idx="14"/>
          </p:nvPr>
        </p:nvSpPr>
        <p:spPr>
          <a:xfrm>
            <a:off x="6947065" y="2291938"/>
            <a:ext cx="4620095" cy="3982057"/>
          </a:xfrm>
        </p:spPr>
        <p:txBody>
          <a:bodyPr>
            <a:normAutofit/>
          </a:bodyPr>
          <a:lstStyle/>
          <a:p>
            <a:pPr>
              <a:buFont typeface="Wingdings" panose="05000000000000000000" pitchFamily="2" charset="2"/>
              <a:buChar char="§"/>
            </a:pPr>
            <a:r>
              <a:rPr lang="en-US" sz="2400" dirty="0"/>
              <a:t>Age has a moderate positive relationship with salary (r = 0.54, $601/year)</a:t>
            </a:r>
          </a:p>
          <a:p>
            <a:pPr>
              <a:buFont typeface="Wingdings" panose="05000000000000000000" pitchFamily="2" charset="2"/>
              <a:buChar char="§"/>
            </a:pPr>
            <a:r>
              <a:rPr lang="en-US" sz="2400" dirty="0"/>
              <a:t>Grace is an exception (+$2,720 above average)</a:t>
            </a:r>
          </a:p>
          <a:p>
            <a:pPr>
              <a:buFont typeface="Wingdings" panose="05000000000000000000" pitchFamily="2" charset="2"/>
              <a:buChar char="§"/>
            </a:pPr>
            <a:r>
              <a:rPr lang="en-CA" sz="2400" dirty="0"/>
              <a:t>Tenure has no impact (r = -0.12)</a:t>
            </a:r>
            <a:endParaRPr lang="en-US" sz="2400" dirty="0"/>
          </a:p>
        </p:txBody>
      </p:sp>
      <p:pic>
        <p:nvPicPr>
          <p:cNvPr id="4" name="Audio 3">
            <a:hlinkClick r:id="" action="ppaction://media"/>
            <a:extLst>
              <a:ext uri="{FF2B5EF4-FFF2-40B4-BE49-F238E27FC236}">
                <a16:creationId xmlns:a16="http://schemas.microsoft.com/office/drawing/2014/main" id="{3ACBE6C4-0550-3974-F842-9E2EE46A11BA}"/>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039059756"/>
      </p:ext>
    </p:extLst>
  </p:cSld>
  <p:clrMapOvr>
    <a:masterClrMapping/>
  </p:clrMapOvr>
  <mc:AlternateContent xmlns:mc="http://schemas.openxmlformats.org/markup-compatibility/2006">
    <mc:Choice xmlns:p14="http://schemas.microsoft.com/office/powerpoint/2010/main" Requires="p14">
      <p:transition spd="slow" p14:dur="2000" advTm="107566"/>
    </mc:Choice>
    <mc:Fallback>
      <p:transition spd="slow" advTm="1075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36235-4568-DACE-71C0-882A333E76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CDAC5-60F7-4EBB-E7F4-C089F3CE21E1}"/>
              </a:ext>
            </a:extLst>
          </p:cNvPr>
          <p:cNvSpPr>
            <a:spLocks noGrp="1"/>
          </p:cNvSpPr>
          <p:nvPr>
            <p:ph type="title"/>
          </p:nvPr>
        </p:nvSpPr>
        <p:spPr>
          <a:xfrm>
            <a:off x="594360" y="198408"/>
            <a:ext cx="10972800" cy="1574317"/>
          </a:xfrm>
        </p:spPr>
        <p:txBody>
          <a:bodyPr/>
          <a:lstStyle/>
          <a:p>
            <a:r>
              <a:rPr lang="en-US" dirty="0"/>
              <a:t>Conclusion &amp; takeaways</a:t>
            </a:r>
          </a:p>
        </p:txBody>
      </p:sp>
      <p:sp>
        <p:nvSpPr>
          <p:cNvPr id="3" name="Content Placeholder 2">
            <a:extLst>
              <a:ext uri="{FF2B5EF4-FFF2-40B4-BE49-F238E27FC236}">
                <a16:creationId xmlns:a16="http://schemas.microsoft.com/office/drawing/2014/main" id="{91D86A8C-39B5-5159-FCCB-0EE7455A3261}"/>
              </a:ext>
            </a:extLst>
          </p:cNvPr>
          <p:cNvSpPr>
            <a:spLocks noGrp="1"/>
          </p:cNvSpPr>
          <p:nvPr>
            <p:ph sz="quarter" idx="13"/>
          </p:nvPr>
        </p:nvSpPr>
        <p:spPr>
          <a:xfrm>
            <a:off x="595522" y="2676525"/>
            <a:ext cx="9842439" cy="3597470"/>
          </a:xfrm>
        </p:spPr>
        <p:txBody>
          <a:bodyPr/>
          <a:lstStyle/>
          <a:p>
            <a:pPr lvl="1">
              <a:buFont typeface="Wingdings" panose="05000000000000000000" pitchFamily="2" charset="2"/>
              <a:buChar char="ü"/>
            </a:pPr>
            <a:r>
              <a:rPr lang="en-US" dirty="0"/>
              <a:t>Real-world data is messy that’s why data cleaning and validation are important to avoid incorrect analysis</a:t>
            </a:r>
          </a:p>
          <a:p>
            <a:pPr lvl="1">
              <a:buFont typeface="Wingdings" panose="05000000000000000000" pitchFamily="2" charset="2"/>
              <a:buChar char="ü"/>
            </a:pPr>
            <a:r>
              <a:rPr lang="en-US" dirty="0"/>
              <a:t>Small datasets can still provide meaningful insights when properly prepared and analyzed</a:t>
            </a:r>
          </a:p>
          <a:p>
            <a:pPr lvl="1">
              <a:buFont typeface="Wingdings" panose="05000000000000000000" pitchFamily="2" charset="2"/>
              <a:buChar char="ü"/>
            </a:pPr>
            <a:r>
              <a:rPr lang="en-US" dirty="0"/>
              <a:t>Data transformations, such as currency conversion, can affect results and must be carefully interpreted</a:t>
            </a:r>
          </a:p>
        </p:txBody>
      </p:sp>
      <p:pic>
        <p:nvPicPr>
          <p:cNvPr id="6" name="Audio 5">
            <a:hlinkClick r:id="" action="ppaction://media"/>
            <a:extLst>
              <a:ext uri="{FF2B5EF4-FFF2-40B4-BE49-F238E27FC236}">
                <a16:creationId xmlns:a16="http://schemas.microsoft.com/office/drawing/2014/main" id="{4F0BFBDE-E9C7-92DE-9587-E424EB8DC40E}"/>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961598455"/>
      </p:ext>
    </p:extLst>
  </p:cSld>
  <p:clrMapOvr>
    <a:masterClrMapping/>
  </p:clrMapOvr>
  <mc:AlternateContent xmlns:mc="http://schemas.openxmlformats.org/markup-compatibility/2006">
    <mc:Choice xmlns:p14="http://schemas.microsoft.com/office/powerpoint/2010/main" Requires="p14">
      <p:transition spd="slow" p14:dur="2000" advTm="29969"/>
    </mc:Choice>
    <mc:Fallback>
      <p:transition spd="slow" advTm="299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a:lstStyle/>
          <a:p>
            <a:r>
              <a:rPr lang="en-US" dirty="0"/>
              <a:t>Thank you</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Geometric annual presentation</Template>
  <TotalTime>2039</TotalTime>
  <Words>890</Words>
  <Application>Microsoft Office PowerPoint</Application>
  <PresentationFormat>Widescreen</PresentationFormat>
  <Paragraphs>87</Paragraphs>
  <Slides>8</Slides>
  <Notes>8</Notes>
  <HiddenSlides>0</HiddenSlides>
  <MMClips>7</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Franklin Gothic Book</vt:lpstr>
      <vt:lpstr>Franklin Gothic Demi</vt:lpstr>
      <vt:lpstr>Wingdings</vt:lpstr>
      <vt:lpstr>Custom</vt:lpstr>
      <vt:lpstr>Data Cleaning and Data Visualization</vt:lpstr>
      <vt:lpstr>Overview</vt:lpstr>
      <vt:lpstr>Dataset Overview</vt:lpstr>
      <vt:lpstr>Data Cleaning Process</vt:lpstr>
      <vt:lpstr>Outliers (IQR Method)</vt:lpstr>
      <vt:lpstr>Key Findings</vt:lpstr>
      <vt:lpstr>Conclusion &amp; takeaways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Roxanne Prajapati</dc:creator>
  <cp:lastModifiedBy>Roxanne Prajapati</cp:lastModifiedBy>
  <cp:revision>8</cp:revision>
  <dcterms:created xsi:type="dcterms:W3CDTF">2026-04-30T18:52:10Z</dcterms:created>
  <dcterms:modified xsi:type="dcterms:W3CDTF">2026-05-02T11:04:59Z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