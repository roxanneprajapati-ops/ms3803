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9" r:id="rId4"/>
    <p:sldId id="258"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14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contains 200 fitness app users. The cleaning step found no missing values or duplicates. One negative session duration was inconsistent, so it was replaced with the positive median. Four behavioural numeric features were selected for clustering.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were standardized before K-Means to avoid steps per day dominating the model. Different k values were compared using elbow and silhouette methods. K equals 4 was selected because it had the highest silhouette score and produced easy-to-explain customer groups.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F8F9-69E0-CE3C-8376-9BC9E4BB0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FECE31-0529-E3CA-B752-76326AF75A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E4C7F-03EB-4377-E470-1B23AFFCFBF9}"/>
              </a:ext>
            </a:extLst>
          </p:cNvPr>
          <p:cNvSpPr>
            <a:spLocks noGrp="1"/>
          </p:cNvSpPr>
          <p:nvPr>
            <p:ph type="body" idx="1"/>
          </p:nvPr>
        </p:nvSpPr>
        <p:spPr/>
        <p:txBody>
          <a:bodyPr/>
          <a:lstStyle/>
          <a:p>
            <a:r>
              <a:rPr lang="en-US" dirty="0"/>
              <a:t>The features were standardized before K-Means to avoid steps per day dominating the model. Different k values were compared using elbow and silhouette methods. K equals 4 was selected because it had the highest silhouette score and produced easy-to-explain customer groups.</a:t>
            </a:r>
          </a:p>
        </p:txBody>
      </p:sp>
      <p:sp>
        <p:nvSpPr>
          <p:cNvPr id="4" name="Slide Number Placeholder 3">
            <a:extLst>
              <a:ext uri="{FF2B5EF4-FFF2-40B4-BE49-F238E27FC236}">
                <a16:creationId xmlns:a16="http://schemas.microsoft.com/office/drawing/2014/main" id="{92BE6E73-149D-CD62-423A-84A58389F70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508968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business insight is that the low-activity segment has the highest churn rate at around 30 percent. Power users and short-session regulars have much lower churn. The app could focus retention campaigns on low-activity users and offer different fitness journeys for walkers, power users, and short-session regulars.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F"/>
        </a:solidFill>
        <a:effectLst/>
      </p:bgPr>
    </p:bg>
    <p:spTree>
      <p:nvGrpSpPr>
        <p:cNvPr id="1" name=""/>
        <p:cNvGrpSpPr/>
        <p:nvPr/>
      </p:nvGrpSpPr>
      <p:grpSpPr>
        <a:xfrm>
          <a:off x="0" y="0"/>
          <a:ext cx="0" cy="0"/>
          <a:chOff x="0" y="0"/>
          <a:chExt cx="0" cy="0"/>
        </a:xfrm>
      </p:grpSpPr>
      <p:sp>
        <p:nvSpPr>
          <p:cNvPr id="2" name="Text 0"/>
          <p:cNvSpPr/>
          <p:nvPr/>
        </p:nvSpPr>
        <p:spPr>
          <a:xfrm>
            <a:off x="411480" y="228600"/>
            <a:ext cx="9418320" cy="438912"/>
          </a:xfrm>
          <a:prstGeom prst="rect">
            <a:avLst/>
          </a:prstGeom>
          <a:noFill/>
          <a:ln/>
        </p:spPr>
        <p:txBody>
          <a:bodyPr wrap="square" lIns="0" tIns="0" rIns="0" bIns="0" rtlCol="0" anchor="ctr"/>
          <a:lstStyle/>
          <a:p>
            <a:pPr marL="0" indent="0">
              <a:buNone/>
            </a:pPr>
            <a:r>
              <a:rPr lang="en-US" sz="2700" b="1" dirty="0">
                <a:solidFill>
                  <a:srgbClr val="0B2F6B"/>
                </a:solidFill>
                <a:latin typeface="Aptos Display" pitchFamily="34" charset="0"/>
                <a:ea typeface="Aptos Display" pitchFamily="34" charset="-122"/>
                <a:cs typeface="Aptos Display" pitchFamily="34" charset="-120"/>
              </a:rPr>
              <a:t>Fitness App User Clustering</a:t>
            </a:r>
            <a:endParaRPr lang="en-US" sz="2700" dirty="0"/>
          </a:p>
        </p:txBody>
      </p:sp>
      <p:sp>
        <p:nvSpPr>
          <p:cNvPr id="3" name="Text 1"/>
          <p:cNvSpPr/>
          <p:nvPr/>
        </p:nvSpPr>
        <p:spPr>
          <a:xfrm>
            <a:off x="429768" y="713232"/>
            <a:ext cx="9601200" cy="274320"/>
          </a:xfrm>
          <a:prstGeom prst="rect">
            <a:avLst/>
          </a:prstGeom>
          <a:noFill/>
          <a:ln/>
        </p:spPr>
        <p:txBody>
          <a:bodyPr wrap="square" lIns="0" tIns="0" rIns="0" bIns="0" rtlCol="0" anchor="ctr"/>
          <a:lstStyle/>
          <a:p>
            <a:pPr marL="0" indent="0">
              <a:buNone/>
            </a:pPr>
            <a:r>
              <a:rPr lang="en-US" sz="1150" dirty="0">
                <a:solidFill>
                  <a:srgbClr val="52616B"/>
                </a:solidFill>
              </a:rPr>
              <a:t>Data cleaning and feature selection for unsupervised user segmentation</a:t>
            </a:r>
            <a:endParaRPr lang="en-US" sz="1150" dirty="0"/>
          </a:p>
        </p:txBody>
      </p:sp>
      <p:sp>
        <p:nvSpPr>
          <p:cNvPr id="4" name="Shape 2"/>
          <p:cNvSpPr/>
          <p:nvPr/>
        </p:nvSpPr>
        <p:spPr>
          <a:xfrm>
            <a:off x="411480" y="1051560"/>
            <a:ext cx="11338560" cy="0"/>
          </a:xfrm>
          <a:prstGeom prst="line">
            <a:avLst/>
          </a:prstGeom>
          <a:noFill/>
          <a:ln w="15240">
            <a:solidFill>
              <a:srgbClr val="BFD3F2"/>
            </a:solidFill>
            <a:prstDash val="solid"/>
          </a:ln>
        </p:spPr>
        <p:txBody>
          <a:bodyPr/>
          <a:lstStyle/>
          <a:p>
            <a:endParaRPr lang="en-CA"/>
          </a:p>
        </p:txBody>
      </p:sp>
      <p:sp>
        <p:nvSpPr>
          <p:cNvPr id="5" name="Shape 3"/>
          <p:cNvSpPr/>
          <p:nvPr/>
        </p:nvSpPr>
        <p:spPr>
          <a:xfrm>
            <a:off x="594360" y="1325880"/>
            <a:ext cx="2057400" cy="822960"/>
          </a:xfrm>
          <a:prstGeom prst="roundRect">
            <a:avLst>
              <a:gd name="adj" fmla="val 8889"/>
            </a:avLst>
          </a:prstGeom>
          <a:solidFill>
            <a:srgbClr val="EAF2FF"/>
          </a:solidFill>
          <a:ln w="12700">
            <a:solidFill>
              <a:srgbClr val="BFD3F2"/>
            </a:solidFill>
            <a:prstDash val="solid"/>
          </a:ln>
        </p:spPr>
        <p:txBody>
          <a:bodyPr/>
          <a:lstStyle/>
          <a:p>
            <a:endParaRPr lang="en-CA"/>
          </a:p>
        </p:txBody>
      </p:sp>
      <p:sp>
        <p:nvSpPr>
          <p:cNvPr id="6" name="Text 4"/>
          <p:cNvSpPr/>
          <p:nvPr/>
        </p:nvSpPr>
        <p:spPr>
          <a:xfrm>
            <a:off x="704088" y="1435608"/>
            <a:ext cx="1837944" cy="347472"/>
          </a:xfrm>
          <a:prstGeom prst="rect">
            <a:avLst/>
          </a:prstGeom>
          <a:noFill/>
          <a:ln/>
        </p:spPr>
        <p:txBody>
          <a:bodyPr wrap="square" lIns="0" tIns="0" rIns="0" bIns="0" rtlCol="0" anchor="ctr"/>
          <a:lstStyle/>
          <a:p>
            <a:pPr marL="0" indent="0" algn="ctr">
              <a:buNone/>
            </a:pPr>
            <a:r>
              <a:rPr lang="en-US" sz="2200" b="1" dirty="0">
                <a:solidFill>
                  <a:srgbClr val="1E5AA8"/>
                </a:solidFill>
              </a:rPr>
              <a:t>200</a:t>
            </a:r>
            <a:endParaRPr lang="en-US" sz="2200" dirty="0"/>
          </a:p>
        </p:txBody>
      </p:sp>
      <p:sp>
        <p:nvSpPr>
          <p:cNvPr id="7" name="Text 5"/>
          <p:cNvSpPr/>
          <p:nvPr/>
        </p:nvSpPr>
        <p:spPr>
          <a:xfrm>
            <a:off x="704088" y="1801368"/>
            <a:ext cx="1837944" cy="256032"/>
          </a:xfrm>
          <a:prstGeom prst="rect">
            <a:avLst/>
          </a:prstGeom>
          <a:noFill/>
          <a:ln/>
        </p:spPr>
        <p:txBody>
          <a:bodyPr wrap="square" lIns="0" tIns="0" rIns="0" bIns="0" rtlCol="0" anchor="ctr"/>
          <a:lstStyle/>
          <a:p>
            <a:pPr marL="0" indent="0" algn="ctr">
              <a:buNone/>
            </a:pPr>
            <a:r>
              <a:rPr lang="en-US" sz="1400" dirty="0">
                <a:solidFill>
                  <a:srgbClr val="52616B"/>
                </a:solidFill>
              </a:rPr>
              <a:t>user records</a:t>
            </a:r>
            <a:endParaRPr lang="en-US" sz="1400" dirty="0"/>
          </a:p>
        </p:txBody>
      </p:sp>
      <p:sp>
        <p:nvSpPr>
          <p:cNvPr id="8" name="Shape 6"/>
          <p:cNvSpPr/>
          <p:nvPr/>
        </p:nvSpPr>
        <p:spPr>
          <a:xfrm>
            <a:off x="2880360" y="1325880"/>
            <a:ext cx="2057400" cy="822960"/>
          </a:xfrm>
          <a:prstGeom prst="roundRect">
            <a:avLst>
              <a:gd name="adj" fmla="val 8889"/>
            </a:avLst>
          </a:prstGeom>
          <a:solidFill>
            <a:srgbClr val="EAF2FF"/>
          </a:solidFill>
          <a:ln w="12700">
            <a:solidFill>
              <a:srgbClr val="BFD3F2"/>
            </a:solidFill>
            <a:prstDash val="solid"/>
          </a:ln>
        </p:spPr>
        <p:txBody>
          <a:bodyPr/>
          <a:lstStyle/>
          <a:p>
            <a:endParaRPr lang="en-CA"/>
          </a:p>
        </p:txBody>
      </p:sp>
      <p:sp>
        <p:nvSpPr>
          <p:cNvPr id="9" name="Text 7"/>
          <p:cNvSpPr/>
          <p:nvPr/>
        </p:nvSpPr>
        <p:spPr>
          <a:xfrm>
            <a:off x="2990088" y="1435608"/>
            <a:ext cx="1837944" cy="347472"/>
          </a:xfrm>
          <a:prstGeom prst="rect">
            <a:avLst/>
          </a:prstGeom>
          <a:noFill/>
          <a:ln/>
        </p:spPr>
        <p:txBody>
          <a:bodyPr wrap="square" lIns="0" tIns="0" rIns="0" bIns="0" rtlCol="0" anchor="ctr"/>
          <a:lstStyle/>
          <a:p>
            <a:pPr marL="0" indent="0" algn="ctr">
              <a:buNone/>
            </a:pPr>
            <a:r>
              <a:rPr lang="en-US" sz="2200" b="1" dirty="0">
                <a:solidFill>
                  <a:srgbClr val="1E5AA8"/>
                </a:solidFill>
              </a:rPr>
              <a:t>0</a:t>
            </a:r>
            <a:endParaRPr lang="en-US" sz="2200" dirty="0"/>
          </a:p>
        </p:txBody>
      </p:sp>
      <p:sp>
        <p:nvSpPr>
          <p:cNvPr id="10" name="Text 8"/>
          <p:cNvSpPr/>
          <p:nvPr/>
        </p:nvSpPr>
        <p:spPr>
          <a:xfrm>
            <a:off x="2990088" y="1801368"/>
            <a:ext cx="1837944" cy="256032"/>
          </a:xfrm>
          <a:prstGeom prst="rect">
            <a:avLst/>
          </a:prstGeom>
          <a:noFill/>
          <a:ln/>
        </p:spPr>
        <p:txBody>
          <a:bodyPr wrap="square" lIns="0" tIns="0" rIns="0" bIns="0" rtlCol="0" anchor="ctr"/>
          <a:lstStyle/>
          <a:p>
            <a:pPr marL="0" indent="0" algn="ctr">
              <a:buNone/>
            </a:pPr>
            <a:r>
              <a:rPr lang="en-US" sz="1400" dirty="0">
                <a:solidFill>
                  <a:srgbClr val="52616B"/>
                </a:solidFill>
              </a:rPr>
              <a:t>missing values</a:t>
            </a:r>
            <a:endParaRPr lang="en-US" sz="1400" dirty="0"/>
          </a:p>
        </p:txBody>
      </p:sp>
      <p:sp>
        <p:nvSpPr>
          <p:cNvPr id="11" name="Shape 9"/>
          <p:cNvSpPr/>
          <p:nvPr/>
        </p:nvSpPr>
        <p:spPr>
          <a:xfrm>
            <a:off x="5166360" y="1325880"/>
            <a:ext cx="2057400" cy="822960"/>
          </a:xfrm>
          <a:prstGeom prst="roundRect">
            <a:avLst>
              <a:gd name="adj" fmla="val 8889"/>
            </a:avLst>
          </a:prstGeom>
          <a:solidFill>
            <a:srgbClr val="EAF2FF"/>
          </a:solidFill>
          <a:ln w="12700">
            <a:solidFill>
              <a:srgbClr val="BFD3F2"/>
            </a:solidFill>
            <a:prstDash val="solid"/>
          </a:ln>
        </p:spPr>
        <p:txBody>
          <a:bodyPr/>
          <a:lstStyle/>
          <a:p>
            <a:endParaRPr lang="en-CA"/>
          </a:p>
        </p:txBody>
      </p:sp>
      <p:sp>
        <p:nvSpPr>
          <p:cNvPr id="12" name="Text 10"/>
          <p:cNvSpPr/>
          <p:nvPr/>
        </p:nvSpPr>
        <p:spPr>
          <a:xfrm>
            <a:off x="5276088" y="1435608"/>
            <a:ext cx="1837944" cy="347472"/>
          </a:xfrm>
          <a:prstGeom prst="rect">
            <a:avLst/>
          </a:prstGeom>
          <a:noFill/>
          <a:ln/>
        </p:spPr>
        <p:txBody>
          <a:bodyPr wrap="square" lIns="0" tIns="0" rIns="0" bIns="0" rtlCol="0" anchor="ctr"/>
          <a:lstStyle/>
          <a:p>
            <a:pPr marL="0" indent="0" algn="ctr">
              <a:buNone/>
            </a:pPr>
            <a:r>
              <a:rPr lang="en-US" sz="2200" b="1" dirty="0">
                <a:solidFill>
                  <a:srgbClr val="B45309"/>
                </a:solidFill>
              </a:rPr>
              <a:t>1</a:t>
            </a:r>
            <a:endParaRPr lang="en-US" sz="2200" dirty="0"/>
          </a:p>
        </p:txBody>
      </p:sp>
      <p:sp>
        <p:nvSpPr>
          <p:cNvPr id="13" name="Text 11"/>
          <p:cNvSpPr/>
          <p:nvPr/>
        </p:nvSpPr>
        <p:spPr>
          <a:xfrm>
            <a:off x="5276088" y="1801368"/>
            <a:ext cx="1837944" cy="256032"/>
          </a:xfrm>
          <a:prstGeom prst="rect">
            <a:avLst/>
          </a:prstGeom>
          <a:noFill/>
          <a:ln/>
        </p:spPr>
        <p:txBody>
          <a:bodyPr wrap="square" lIns="0" tIns="0" rIns="0" bIns="0" rtlCol="0" anchor="ctr"/>
          <a:lstStyle/>
          <a:p>
            <a:pPr marL="0" indent="0" algn="ctr">
              <a:buNone/>
            </a:pPr>
            <a:r>
              <a:rPr lang="en-US" sz="1400" dirty="0">
                <a:solidFill>
                  <a:srgbClr val="52616B"/>
                </a:solidFill>
              </a:rPr>
              <a:t>invalid duration corrected</a:t>
            </a:r>
            <a:endParaRPr lang="en-US" sz="1400" dirty="0"/>
          </a:p>
        </p:txBody>
      </p:sp>
      <p:sp>
        <p:nvSpPr>
          <p:cNvPr id="14" name="Shape 12"/>
          <p:cNvSpPr/>
          <p:nvPr/>
        </p:nvSpPr>
        <p:spPr>
          <a:xfrm>
            <a:off x="7452360" y="1325880"/>
            <a:ext cx="2057400" cy="822960"/>
          </a:xfrm>
          <a:prstGeom prst="roundRect">
            <a:avLst>
              <a:gd name="adj" fmla="val 8889"/>
            </a:avLst>
          </a:prstGeom>
          <a:solidFill>
            <a:srgbClr val="EAF2FF"/>
          </a:solidFill>
          <a:ln w="12700">
            <a:solidFill>
              <a:srgbClr val="BFD3F2"/>
            </a:solidFill>
            <a:prstDash val="solid"/>
          </a:ln>
        </p:spPr>
        <p:txBody>
          <a:bodyPr/>
          <a:lstStyle/>
          <a:p>
            <a:endParaRPr lang="en-CA"/>
          </a:p>
        </p:txBody>
      </p:sp>
      <p:sp>
        <p:nvSpPr>
          <p:cNvPr id="15" name="Text 13"/>
          <p:cNvSpPr/>
          <p:nvPr/>
        </p:nvSpPr>
        <p:spPr>
          <a:xfrm>
            <a:off x="7562088" y="1435608"/>
            <a:ext cx="1837944" cy="347472"/>
          </a:xfrm>
          <a:prstGeom prst="rect">
            <a:avLst/>
          </a:prstGeom>
          <a:noFill/>
          <a:ln/>
        </p:spPr>
        <p:txBody>
          <a:bodyPr wrap="square" lIns="0" tIns="0" rIns="0" bIns="0" rtlCol="0" anchor="ctr"/>
          <a:lstStyle/>
          <a:p>
            <a:pPr marL="0" indent="0" algn="ctr">
              <a:buNone/>
            </a:pPr>
            <a:r>
              <a:rPr lang="en-US" sz="2200" b="1" dirty="0">
                <a:solidFill>
                  <a:srgbClr val="147A63"/>
                </a:solidFill>
              </a:rPr>
              <a:t>4</a:t>
            </a:r>
            <a:endParaRPr lang="en-US" sz="2200" dirty="0"/>
          </a:p>
        </p:txBody>
      </p:sp>
      <p:sp>
        <p:nvSpPr>
          <p:cNvPr id="16" name="Text 14"/>
          <p:cNvSpPr/>
          <p:nvPr/>
        </p:nvSpPr>
        <p:spPr>
          <a:xfrm>
            <a:off x="7562088" y="1801368"/>
            <a:ext cx="1837944" cy="256032"/>
          </a:xfrm>
          <a:prstGeom prst="rect">
            <a:avLst/>
          </a:prstGeom>
          <a:noFill/>
          <a:ln/>
        </p:spPr>
        <p:txBody>
          <a:bodyPr wrap="square" lIns="0" tIns="0" rIns="0" bIns="0" rtlCol="0" anchor="ctr"/>
          <a:lstStyle/>
          <a:p>
            <a:pPr marL="0" indent="0" algn="ctr">
              <a:buNone/>
            </a:pPr>
            <a:r>
              <a:rPr lang="en-US" sz="1400" dirty="0">
                <a:solidFill>
                  <a:srgbClr val="52616B"/>
                </a:solidFill>
              </a:rPr>
              <a:t>clustering features</a:t>
            </a:r>
            <a:endParaRPr lang="en-US" sz="1400" dirty="0"/>
          </a:p>
        </p:txBody>
      </p:sp>
      <p:sp>
        <p:nvSpPr>
          <p:cNvPr id="17" name="Shape 15"/>
          <p:cNvSpPr/>
          <p:nvPr/>
        </p:nvSpPr>
        <p:spPr>
          <a:xfrm>
            <a:off x="594360" y="2514600"/>
            <a:ext cx="3474720" cy="2953512"/>
          </a:xfrm>
          <a:prstGeom prst="roundRect">
            <a:avLst>
              <a:gd name="adj" fmla="val 2254"/>
            </a:avLst>
          </a:prstGeom>
          <a:solidFill>
            <a:srgbClr val="FFFFFF"/>
          </a:solidFill>
          <a:ln w="12700">
            <a:solidFill>
              <a:srgbClr val="BFD3F2"/>
            </a:solidFill>
            <a:prstDash val="solid"/>
          </a:ln>
          <a:effectLst>
            <a:outerShdw blurRad="12700" dist="50800" dir="2700000" algn="bl" rotWithShape="0">
              <a:srgbClr val="D6E4F4">
                <a:alpha val="18000"/>
              </a:srgbClr>
            </a:outerShdw>
          </a:effectLst>
        </p:spPr>
        <p:txBody>
          <a:bodyPr/>
          <a:lstStyle/>
          <a:p>
            <a:endParaRPr lang="en-CA"/>
          </a:p>
        </p:txBody>
      </p:sp>
      <p:sp>
        <p:nvSpPr>
          <p:cNvPr id="18" name="Text 16"/>
          <p:cNvSpPr/>
          <p:nvPr/>
        </p:nvSpPr>
        <p:spPr>
          <a:xfrm>
            <a:off x="795528" y="2679192"/>
            <a:ext cx="3072384" cy="256032"/>
          </a:xfrm>
          <a:prstGeom prst="rect">
            <a:avLst/>
          </a:prstGeom>
          <a:noFill/>
          <a:ln/>
        </p:spPr>
        <p:txBody>
          <a:bodyPr wrap="square" lIns="0" tIns="0" rIns="0" bIns="0" rtlCol="0" anchor="ctr"/>
          <a:lstStyle/>
          <a:p>
            <a:pPr marL="0" indent="0">
              <a:buNone/>
            </a:pPr>
            <a:r>
              <a:rPr lang="en-US" sz="1450" b="1" dirty="0">
                <a:solidFill>
                  <a:srgbClr val="1E5AA8"/>
                </a:solidFill>
              </a:rPr>
              <a:t>Data cleaning process</a:t>
            </a:r>
            <a:endParaRPr lang="en-US" sz="1450" dirty="0"/>
          </a:p>
        </p:txBody>
      </p:sp>
      <p:sp>
        <p:nvSpPr>
          <p:cNvPr id="19" name="Text 17"/>
          <p:cNvSpPr/>
          <p:nvPr/>
        </p:nvSpPr>
        <p:spPr>
          <a:xfrm>
            <a:off x="795528" y="3026664"/>
            <a:ext cx="3072384" cy="1743744"/>
          </a:xfrm>
          <a:prstGeom prst="rect">
            <a:avLst/>
          </a:prstGeom>
          <a:noFill/>
          <a:ln/>
        </p:spPr>
        <p:txBody>
          <a:bodyPr wrap="square" lIns="254" tIns="254" rIns="254" bIns="254" rtlCol="0" anchor="ctr">
            <a:normAutofit/>
          </a:bodyPr>
          <a:lstStyle/>
          <a:p>
            <a:pPr marL="171450" indent="-171450">
              <a:buFont typeface="Arial" panose="020B0604020202020204" pitchFamily="34" charset="0"/>
              <a:buChar char="•"/>
            </a:pPr>
            <a:r>
              <a:rPr lang="en-US" sz="1400" dirty="0">
                <a:solidFill>
                  <a:srgbClr val="111827"/>
                </a:solidFill>
              </a:rPr>
              <a:t>Checked missing values: none found.</a:t>
            </a:r>
            <a:endParaRPr lang="en-US" sz="1400" dirty="0"/>
          </a:p>
          <a:p>
            <a:pPr marL="171450" indent="-171450">
              <a:buFont typeface="Arial" panose="020B0604020202020204" pitchFamily="34" charset="0"/>
              <a:buChar char="•"/>
            </a:pPr>
            <a:r>
              <a:rPr lang="en-US" sz="1400" dirty="0">
                <a:solidFill>
                  <a:srgbClr val="111827"/>
                </a:solidFill>
              </a:rPr>
              <a:t>Checked duplicate rows and duplicate User_ID: none found.</a:t>
            </a:r>
            <a:endParaRPr lang="en-US" sz="1400" dirty="0"/>
          </a:p>
          <a:p>
            <a:pPr marL="171450" indent="-171450">
              <a:buFont typeface="Arial" panose="020B0604020202020204" pitchFamily="34" charset="0"/>
              <a:buChar char="•"/>
            </a:pPr>
            <a:r>
              <a:rPr lang="en-US" sz="1400" dirty="0">
                <a:solidFill>
                  <a:srgbClr val="111827"/>
                </a:solidFill>
              </a:rPr>
              <a:t>Corrected data types for numeric and categorical columns.</a:t>
            </a:r>
            <a:endParaRPr lang="en-US" sz="1400" dirty="0"/>
          </a:p>
          <a:p>
            <a:pPr marL="171450" indent="-171450">
              <a:buFont typeface="Arial" panose="020B0604020202020204" pitchFamily="34" charset="0"/>
              <a:buChar char="•"/>
            </a:pPr>
            <a:r>
              <a:rPr lang="en-US" sz="1400" dirty="0">
                <a:solidFill>
                  <a:srgbClr val="111827"/>
                </a:solidFill>
              </a:rPr>
              <a:t>Replaced one invalid negative session duration with the positive median session duration.</a:t>
            </a:r>
            <a:endParaRPr lang="en-US" sz="1400" dirty="0"/>
          </a:p>
        </p:txBody>
      </p:sp>
      <p:sp>
        <p:nvSpPr>
          <p:cNvPr id="20" name="Shape 18"/>
          <p:cNvSpPr/>
          <p:nvPr/>
        </p:nvSpPr>
        <p:spPr>
          <a:xfrm>
            <a:off x="4358640" y="2532888"/>
            <a:ext cx="3474720" cy="3246120"/>
          </a:xfrm>
          <a:prstGeom prst="roundRect">
            <a:avLst>
              <a:gd name="adj" fmla="val 2254"/>
            </a:avLst>
          </a:prstGeom>
          <a:solidFill>
            <a:srgbClr val="FFFFFF"/>
          </a:solidFill>
          <a:ln w="12700">
            <a:solidFill>
              <a:srgbClr val="BFD3F2"/>
            </a:solidFill>
            <a:prstDash val="solid"/>
          </a:ln>
          <a:effectLst>
            <a:outerShdw blurRad="12700" dist="50800" dir="2700000" algn="bl" rotWithShape="0">
              <a:srgbClr val="D6E4F4">
                <a:alpha val="18000"/>
              </a:srgbClr>
            </a:outerShdw>
          </a:effectLst>
        </p:spPr>
        <p:txBody>
          <a:bodyPr/>
          <a:lstStyle/>
          <a:p>
            <a:endParaRPr lang="en-CA"/>
          </a:p>
        </p:txBody>
      </p:sp>
      <p:sp>
        <p:nvSpPr>
          <p:cNvPr id="21" name="Text 19"/>
          <p:cNvSpPr/>
          <p:nvPr/>
        </p:nvSpPr>
        <p:spPr>
          <a:xfrm>
            <a:off x="4544568" y="2679192"/>
            <a:ext cx="3072384" cy="256032"/>
          </a:xfrm>
          <a:prstGeom prst="rect">
            <a:avLst/>
          </a:prstGeom>
          <a:noFill/>
          <a:ln/>
        </p:spPr>
        <p:txBody>
          <a:bodyPr wrap="square" lIns="0" tIns="0" rIns="0" bIns="0" rtlCol="0" anchor="ctr"/>
          <a:lstStyle/>
          <a:p>
            <a:pPr marL="0" indent="0">
              <a:buNone/>
            </a:pPr>
            <a:r>
              <a:rPr lang="en-US" sz="1450" b="1" dirty="0">
                <a:solidFill>
                  <a:srgbClr val="147A63"/>
                </a:solidFill>
              </a:rPr>
              <a:t>Features used for clustering</a:t>
            </a:r>
            <a:endParaRPr lang="en-US" sz="1450" dirty="0"/>
          </a:p>
        </p:txBody>
      </p:sp>
      <p:sp>
        <p:nvSpPr>
          <p:cNvPr id="22" name="Text 20"/>
          <p:cNvSpPr/>
          <p:nvPr/>
        </p:nvSpPr>
        <p:spPr>
          <a:xfrm>
            <a:off x="4544568" y="3026664"/>
            <a:ext cx="3072384" cy="1579842"/>
          </a:xfrm>
          <a:prstGeom prst="rect">
            <a:avLst/>
          </a:prstGeom>
          <a:noFill/>
          <a:ln/>
        </p:spPr>
        <p:txBody>
          <a:bodyPr wrap="square" lIns="254" tIns="254" rIns="254" bIns="254" rtlCol="0" anchor="ctr">
            <a:noAutofit/>
          </a:bodyPr>
          <a:lstStyle/>
          <a:p>
            <a:pPr marL="171450" indent="-171450">
              <a:buFont typeface="Arial" panose="020B0604020202020204" pitchFamily="34" charset="0"/>
              <a:buChar char="•"/>
            </a:pPr>
            <a:r>
              <a:rPr lang="en-US" sz="1400" dirty="0">
                <a:solidFill>
                  <a:srgbClr val="111827"/>
                </a:solidFill>
              </a:rPr>
              <a:t>Age</a:t>
            </a:r>
            <a:endParaRPr lang="en-US" sz="1400" dirty="0"/>
          </a:p>
          <a:p>
            <a:pPr marL="171450" indent="-171450">
              <a:buFont typeface="Arial" panose="020B0604020202020204" pitchFamily="34" charset="0"/>
              <a:buChar char="•"/>
            </a:pPr>
            <a:r>
              <a:rPr lang="en-US" sz="1400" dirty="0" err="1">
                <a:solidFill>
                  <a:srgbClr val="111827"/>
                </a:solidFill>
              </a:rPr>
              <a:t>Workouts_per_Week</a:t>
            </a:r>
            <a:endParaRPr lang="en-US" sz="1400" dirty="0"/>
          </a:p>
          <a:p>
            <a:pPr marL="171450" indent="-171450">
              <a:buFont typeface="Arial" panose="020B0604020202020204" pitchFamily="34" charset="0"/>
              <a:buChar char="•"/>
            </a:pPr>
            <a:r>
              <a:rPr lang="en-US" sz="1400" dirty="0" err="1">
                <a:solidFill>
                  <a:srgbClr val="111827"/>
                </a:solidFill>
              </a:rPr>
              <a:t>Avg_Session_Duration_Min</a:t>
            </a:r>
            <a:endParaRPr lang="en-US" sz="1400" dirty="0"/>
          </a:p>
          <a:p>
            <a:pPr marL="171450" indent="-171450">
              <a:buFont typeface="Arial" panose="020B0604020202020204" pitchFamily="34" charset="0"/>
              <a:buChar char="•"/>
            </a:pPr>
            <a:r>
              <a:rPr lang="en-US" sz="1400" dirty="0" err="1">
                <a:solidFill>
                  <a:srgbClr val="111827"/>
                </a:solidFill>
              </a:rPr>
              <a:t>Steps_per_Day</a:t>
            </a:r>
            <a:endParaRPr lang="en-US" sz="1400" dirty="0"/>
          </a:p>
          <a:p>
            <a:pPr marL="171450" indent="-171450">
              <a:buFont typeface="Arial" panose="020B0604020202020204" pitchFamily="34" charset="0"/>
              <a:buChar char="•"/>
            </a:pPr>
            <a:r>
              <a:rPr lang="en-US" sz="1400" dirty="0">
                <a:solidFill>
                  <a:srgbClr val="111827"/>
                </a:solidFill>
              </a:rPr>
              <a:t>Excluded User_ID, Gender, Subscription_Type and Churned from model training.</a:t>
            </a:r>
            <a:endParaRPr lang="en-US" sz="1400" dirty="0"/>
          </a:p>
        </p:txBody>
      </p:sp>
      <p:sp>
        <p:nvSpPr>
          <p:cNvPr id="23" name="Shape 21"/>
          <p:cNvSpPr/>
          <p:nvPr/>
        </p:nvSpPr>
        <p:spPr>
          <a:xfrm>
            <a:off x="8092440" y="2514600"/>
            <a:ext cx="3474720" cy="3246120"/>
          </a:xfrm>
          <a:prstGeom prst="roundRect">
            <a:avLst>
              <a:gd name="adj" fmla="val 2254"/>
            </a:avLst>
          </a:prstGeom>
          <a:solidFill>
            <a:srgbClr val="FFFFFF"/>
          </a:solidFill>
          <a:ln w="12700">
            <a:solidFill>
              <a:srgbClr val="BFD3F2"/>
            </a:solidFill>
            <a:prstDash val="solid"/>
          </a:ln>
          <a:effectLst>
            <a:outerShdw blurRad="12700" dist="50800" dir="2700000" algn="bl" rotWithShape="0">
              <a:srgbClr val="D6E4F4">
                <a:alpha val="18000"/>
              </a:srgbClr>
            </a:outerShdw>
          </a:effectLst>
        </p:spPr>
        <p:txBody>
          <a:bodyPr/>
          <a:lstStyle/>
          <a:p>
            <a:endParaRPr lang="en-CA"/>
          </a:p>
        </p:txBody>
      </p:sp>
      <p:sp>
        <p:nvSpPr>
          <p:cNvPr id="24" name="Text 22"/>
          <p:cNvSpPr/>
          <p:nvPr/>
        </p:nvSpPr>
        <p:spPr>
          <a:xfrm>
            <a:off x="8293608" y="2679192"/>
            <a:ext cx="3072384" cy="256032"/>
          </a:xfrm>
          <a:prstGeom prst="rect">
            <a:avLst/>
          </a:prstGeom>
          <a:noFill/>
          <a:ln/>
        </p:spPr>
        <p:txBody>
          <a:bodyPr wrap="square" lIns="0" tIns="0" rIns="0" bIns="0" rtlCol="0" anchor="ctr"/>
          <a:lstStyle/>
          <a:p>
            <a:pPr marL="0" indent="0">
              <a:buNone/>
            </a:pPr>
            <a:r>
              <a:rPr lang="en-US" sz="1450" b="1" dirty="0">
                <a:solidFill>
                  <a:srgbClr val="B45309"/>
                </a:solidFill>
              </a:rPr>
              <a:t>Why these features?</a:t>
            </a:r>
            <a:endParaRPr lang="en-US" sz="1450" dirty="0"/>
          </a:p>
        </p:txBody>
      </p:sp>
      <p:sp>
        <p:nvSpPr>
          <p:cNvPr id="25" name="Text 23"/>
          <p:cNvSpPr/>
          <p:nvPr/>
        </p:nvSpPr>
        <p:spPr>
          <a:xfrm>
            <a:off x="8293608" y="3026664"/>
            <a:ext cx="3072384" cy="1579842"/>
          </a:xfrm>
          <a:prstGeom prst="rect">
            <a:avLst/>
          </a:prstGeom>
          <a:noFill/>
          <a:ln/>
        </p:spPr>
        <p:txBody>
          <a:bodyPr wrap="square" lIns="254" tIns="254" rIns="254" bIns="254" rtlCol="0" anchor="ctr">
            <a:normAutofit/>
          </a:bodyPr>
          <a:lstStyle/>
          <a:p>
            <a:pPr marL="171450" indent="-171450">
              <a:buFont typeface="Arial" panose="020B0604020202020204" pitchFamily="34" charset="0"/>
              <a:buChar char="•"/>
            </a:pPr>
            <a:r>
              <a:rPr lang="en-US" sz="1400" dirty="0">
                <a:solidFill>
                  <a:srgbClr val="111827"/>
                </a:solidFill>
              </a:rPr>
              <a:t>They describe fitness behaviour and app engagement.</a:t>
            </a:r>
            <a:endParaRPr lang="en-US" sz="1400" dirty="0"/>
          </a:p>
          <a:p>
            <a:pPr marL="171450" indent="-171450">
              <a:buFont typeface="Arial" panose="020B0604020202020204" pitchFamily="34" charset="0"/>
              <a:buChar char="•"/>
            </a:pPr>
            <a:r>
              <a:rPr lang="en-US" sz="1400" dirty="0">
                <a:solidFill>
                  <a:srgbClr val="111827"/>
                </a:solidFill>
              </a:rPr>
              <a:t>They are numeric, simple to standardize, and suitable for K-Means.</a:t>
            </a:r>
            <a:endParaRPr lang="en-US" sz="1400" dirty="0"/>
          </a:p>
          <a:p>
            <a:pPr marL="171450" indent="-171450">
              <a:buFont typeface="Arial" panose="020B0604020202020204" pitchFamily="34" charset="0"/>
              <a:buChar char="•"/>
            </a:pPr>
            <a:r>
              <a:rPr lang="en-US" sz="1400" dirty="0">
                <a:solidFill>
                  <a:srgbClr val="111827"/>
                </a:solidFill>
              </a:rPr>
              <a:t>Subscription type and churn were kept for cluster interpretation only.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28600"/>
            <a:ext cx="9418320" cy="438912"/>
          </a:xfrm>
          <a:prstGeom prst="rect">
            <a:avLst/>
          </a:prstGeom>
          <a:noFill/>
          <a:ln/>
        </p:spPr>
        <p:txBody>
          <a:bodyPr wrap="square" lIns="0" tIns="0" rIns="0" bIns="0" rtlCol="0" anchor="ctr"/>
          <a:lstStyle/>
          <a:p>
            <a:pPr marL="0" indent="0">
              <a:buNone/>
            </a:pPr>
            <a:r>
              <a:rPr lang="en-US" sz="2700" b="1" dirty="0">
                <a:solidFill>
                  <a:srgbClr val="0B2F6B"/>
                </a:solidFill>
                <a:latin typeface="Aptos Display" pitchFamily="34" charset="0"/>
                <a:ea typeface="Aptos Display" pitchFamily="34" charset="-122"/>
                <a:cs typeface="Aptos Display" pitchFamily="34" charset="-120"/>
              </a:rPr>
              <a:t>Clustering Methodology</a:t>
            </a:r>
            <a:endParaRPr lang="en-US" sz="2700" dirty="0"/>
          </a:p>
        </p:txBody>
      </p:sp>
      <p:sp>
        <p:nvSpPr>
          <p:cNvPr id="3" name="Text 1"/>
          <p:cNvSpPr/>
          <p:nvPr/>
        </p:nvSpPr>
        <p:spPr>
          <a:xfrm>
            <a:off x="429768" y="713232"/>
            <a:ext cx="9601200" cy="274320"/>
          </a:xfrm>
          <a:prstGeom prst="rect">
            <a:avLst/>
          </a:prstGeom>
          <a:noFill/>
          <a:ln/>
        </p:spPr>
        <p:txBody>
          <a:bodyPr wrap="square" lIns="0" tIns="0" rIns="0" bIns="0" rtlCol="0" anchor="ctr"/>
          <a:lstStyle/>
          <a:p>
            <a:pPr marL="0" indent="0">
              <a:buNone/>
            </a:pPr>
            <a:r>
              <a:rPr lang="en-US" sz="1150" dirty="0">
                <a:solidFill>
                  <a:srgbClr val="52616B"/>
                </a:solidFill>
              </a:rPr>
              <a:t>K-Means was applied after standardizing the selected features</a:t>
            </a:r>
            <a:endParaRPr lang="en-US" sz="1150" dirty="0"/>
          </a:p>
        </p:txBody>
      </p:sp>
      <p:sp>
        <p:nvSpPr>
          <p:cNvPr id="4" name="Shape 2"/>
          <p:cNvSpPr/>
          <p:nvPr/>
        </p:nvSpPr>
        <p:spPr>
          <a:xfrm>
            <a:off x="411480" y="1051560"/>
            <a:ext cx="11338560" cy="0"/>
          </a:xfrm>
          <a:prstGeom prst="line">
            <a:avLst/>
          </a:prstGeom>
          <a:noFill/>
          <a:ln w="15240">
            <a:solidFill>
              <a:srgbClr val="BFD3F2"/>
            </a:solidFill>
            <a:prstDash val="solid"/>
          </a:ln>
        </p:spPr>
        <p:txBody>
          <a:bodyPr/>
          <a:lstStyle/>
          <a:p>
            <a:endParaRPr lang="en-CA"/>
          </a:p>
        </p:txBody>
      </p:sp>
      <p:sp>
        <p:nvSpPr>
          <p:cNvPr id="5" name="Shape 3"/>
          <p:cNvSpPr/>
          <p:nvPr/>
        </p:nvSpPr>
        <p:spPr>
          <a:xfrm>
            <a:off x="502920" y="1325880"/>
            <a:ext cx="10875322" cy="4663440"/>
          </a:xfrm>
          <a:prstGeom prst="roundRect">
            <a:avLst>
              <a:gd name="adj" fmla="val 2500"/>
            </a:avLst>
          </a:prstGeom>
          <a:solidFill>
            <a:srgbClr val="FFFFFF"/>
          </a:solidFill>
          <a:ln w="12700">
            <a:solidFill>
              <a:srgbClr val="BFD3F2"/>
            </a:solidFill>
            <a:prstDash val="solid"/>
          </a:ln>
          <a:effectLst>
            <a:outerShdw blurRad="12700" dist="50800" dir="2700000" algn="bl" rotWithShape="0">
              <a:srgbClr val="D6E4F4">
                <a:alpha val="18000"/>
              </a:srgbClr>
            </a:outerShdw>
          </a:effectLst>
        </p:spPr>
        <p:txBody>
          <a:bodyPr/>
          <a:lstStyle/>
          <a:p>
            <a:endParaRPr lang="en-CA"/>
          </a:p>
        </p:txBody>
      </p:sp>
      <p:sp>
        <p:nvSpPr>
          <p:cNvPr id="6" name="Text 4"/>
          <p:cNvSpPr/>
          <p:nvPr/>
        </p:nvSpPr>
        <p:spPr>
          <a:xfrm>
            <a:off x="704088" y="1490472"/>
            <a:ext cx="2523744" cy="256032"/>
          </a:xfrm>
          <a:prstGeom prst="rect">
            <a:avLst/>
          </a:prstGeom>
          <a:noFill/>
          <a:ln/>
        </p:spPr>
        <p:txBody>
          <a:bodyPr wrap="square" lIns="0" tIns="0" rIns="0" bIns="0" rtlCol="0" anchor="ctr"/>
          <a:lstStyle/>
          <a:p>
            <a:pPr marL="0" indent="0">
              <a:buNone/>
            </a:pPr>
            <a:r>
              <a:rPr lang="en-US" sz="3200" b="1" dirty="0">
                <a:solidFill>
                  <a:srgbClr val="1E5AA8"/>
                </a:solidFill>
              </a:rPr>
              <a:t>Method used</a:t>
            </a:r>
            <a:endParaRPr lang="en-US" sz="3200" dirty="0"/>
          </a:p>
        </p:txBody>
      </p:sp>
      <p:sp>
        <p:nvSpPr>
          <p:cNvPr id="7" name="Text 5"/>
          <p:cNvSpPr/>
          <p:nvPr/>
        </p:nvSpPr>
        <p:spPr>
          <a:xfrm>
            <a:off x="704088" y="1837944"/>
            <a:ext cx="10139316" cy="3398290"/>
          </a:xfrm>
          <a:prstGeom prst="rect">
            <a:avLst/>
          </a:prstGeom>
          <a:noFill/>
          <a:ln/>
        </p:spPr>
        <p:txBody>
          <a:bodyPr wrap="square" lIns="254" tIns="254" rIns="254" bIns="254" rtlCol="0" anchor="ctr">
            <a:normAutofit/>
          </a:bodyPr>
          <a:lstStyle/>
          <a:p>
            <a:pPr marL="285750" indent="-285750">
              <a:lnSpc>
                <a:spcPct val="200000"/>
              </a:lnSpc>
              <a:buFont typeface="Wingdings" panose="05000000000000000000" pitchFamily="2" charset="2"/>
              <a:buChar char="Ø"/>
            </a:pPr>
            <a:r>
              <a:rPr lang="en-US" sz="2400" dirty="0">
                <a:solidFill>
                  <a:srgbClr val="111827"/>
                </a:solidFill>
              </a:rPr>
              <a:t>Algorithm: K-Means clustering.</a:t>
            </a:r>
            <a:endParaRPr lang="en-US" sz="2400" dirty="0"/>
          </a:p>
          <a:p>
            <a:pPr marL="285750" indent="-285750">
              <a:lnSpc>
                <a:spcPct val="200000"/>
              </a:lnSpc>
              <a:buFont typeface="Wingdings" panose="05000000000000000000" pitchFamily="2" charset="2"/>
              <a:buChar char="Ø"/>
            </a:pPr>
            <a:r>
              <a:rPr lang="en-US" sz="2400" dirty="0">
                <a:solidFill>
                  <a:srgbClr val="111827"/>
                </a:solidFill>
              </a:rPr>
              <a:t>Scaling: StandardScaler was used so all features had equal influence.</a:t>
            </a:r>
            <a:endParaRPr lang="en-US" sz="2400" dirty="0"/>
          </a:p>
          <a:p>
            <a:pPr marL="285750" indent="-285750">
              <a:lnSpc>
                <a:spcPct val="200000"/>
              </a:lnSpc>
              <a:buFont typeface="Wingdings" panose="05000000000000000000" pitchFamily="2" charset="2"/>
              <a:buChar char="Ø"/>
            </a:pPr>
            <a:r>
              <a:rPr lang="en-US" sz="2400" dirty="0">
                <a:solidFill>
                  <a:srgbClr val="111827"/>
                </a:solidFill>
              </a:rPr>
              <a:t>Random state: 42 for repeatable results.</a:t>
            </a:r>
            <a:endParaRPr lang="en-US" sz="2400" dirty="0"/>
          </a:p>
          <a:p>
            <a:pPr marL="285750" indent="-285750">
              <a:lnSpc>
                <a:spcPct val="200000"/>
              </a:lnSpc>
              <a:buFont typeface="Wingdings" panose="05000000000000000000" pitchFamily="2" charset="2"/>
              <a:buChar char="Ø"/>
            </a:pPr>
            <a:r>
              <a:rPr lang="en-US" sz="2400" dirty="0">
                <a:solidFill>
                  <a:srgbClr val="111827"/>
                </a:solidFill>
              </a:rPr>
              <a:t>K was tested from 2 to 8 clusters.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A59AE-ABF3-3995-9FA1-51D0BC5014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DDDB4F5-D5DF-D834-DB19-D213BF2274C7}"/>
              </a:ext>
            </a:extLst>
          </p:cNvPr>
          <p:cNvSpPr/>
          <p:nvPr/>
        </p:nvSpPr>
        <p:spPr>
          <a:xfrm>
            <a:off x="411480" y="228600"/>
            <a:ext cx="9418320" cy="438912"/>
          </a:xfrm>
          <a:prstGeom prst="rect">
            <a:avLst/>
          </a:prstGeom>
          <a:noFill/>
          <a:ln/>
        </p:spPr>
        <p:txBody>
          <a:bodyPr wrap="square" lIns="0" tIns="0" rIns="0" bIns="0" rtlCol="0" anchor="ctr"/>
          <a:lstStyle/>
          <a:p>
            <a:pPr marL="0" indent="0">
              <a:buNone/>
            </a:pPr>
            <a:r>
              <a:rPr lang="en-US" sz="2700" b="1" dirty="0">
                <a:solidFill>
                  <a:srgbClr val="0B2F6B"/>
                </a:solidFill>
                <a:latin typeface="Aptos Display" pitchFamily="34" charset="0"/>
                <a:ea typeface="Aptos Display" pitchFamily="34" charset="-122"/>
                <a:cs typeface="Aptos Display" pitchFamily="34" charset="-120"/>
              </a:rPr>
              <a:t>Clustering Methodology (contd.)</a:t>
            </a:r>
            <a:endParaRPr lang="en-US" sz="2700" dirty="0"/>
          </a:p>
        </p:txBody>
      </p:sp>
      <p:sp>
        <p:nvSpPr>
          <p:cNvPr id="4" name="Shape 2">
            <a:extLst>
              <a:ext uri="{FF2B5EF4-FFF2-40B4-BE49-F238E27FC236}">
                <a16:creationId xmlns:a16="http://schemas.microsoft.com/office/drawing/2014/main" id="{FC445141-98D0-5C90-D2CE-1BFEE43E4B8C}"/>
              </a:ext>
            </a:extLst>
          </p:cNvPr>
          <p:cNvSpPr/>
          <p:nvPr/>
        </p:nvSpPr>
        <p:spPr>
          <a:xfrm>
            <a:off x="411480" y="1051560"/>
            <a:ext cx="11338560" cy="0"/>
          </a:xfrm>
          <a:prstGeom prst="line">
            <a:avLst/>
          </a:prstGeom>
          <a:noFill/>
          <a:ln w="15240">
            <a:solidFill>
              <a:srgbClr val="BFD3F2"/>
            </a:solidFill>
            <a:prstDash val="solid"/>
          </a:ln>
        </p:spPr>
        <p:txBody>
          <a:bodyPr/>
          <a:lstStyle/>
          <a:p>
            <a:endParaRPr lang="en-CA"/>
          </a:p>
        </p:txBody>
      </p:sp>
      <p:pic>
        <p:nvPicPr>
          <p:cNvPr id="8" name="Image 0" descr="/mnt/data/fitness_analysis_assets/elbow.png">
            <a:extLst>
              <a:ext uri="{FF2B5EF4-FFF2-40B4-BE49-F238E27FC236}">
                <a16:creationId xmlns:a16="http://schemas.microsoft.com/office/drawing/2014/main" id="{E429B92B-A25B-F963-AAA6-CFBFE1F3534D}"/>
              </a:ext>
            </a:extLst>
          </p:cNvPr>
          <p:cNvPicPr>
            <a:picLocks noChangeAspect="1"/>
          </p:cNvPicPr>
          <p:nvPr/>
        </p:nvPicPr>
        <p:blipFill>
          <a:blip r:embed="rId3"/>
          <a:stretch>
            <a:fillRect/>
          </a:stretch>
        </p:blipFill>
        <p:spPr>
          <a:xfrm>
            <a:off x="624840" y="1316111"/>
            <a:ext cx="5146232" cy="2910849"/>
          </a:xfrm>
          <a:prstGeom prst="rect">
            <a:avLst/>
          </a:prstGeom>
        </p:spPr>
      </p:pic>
      <p:pic>
        <p:nvPicPr>
          <p:cNvPr id="9" name="Image 1" descr="/mnt/data/fitness_analysis_assets/silhouette.png">
            <a:extLst>
              <a:ext uri="{FF2B5EF4-FFF2-40B4-BE49-F238E27FC236}">
                <a16:creationId xmlns:a16="http://schemas.microsoft.com/office/drawing/2014/main" id="{C2C73990-4162-2E29-9344-8C47613F7C4A}"/>
              </a:ext>
            </a:extLst>
          </p:cNvPr>
          <p:cNvPicPr>
            <a:picLocks noChangeAspect="1"/>
          </p:cNvPicPr>
          <p:nvPr/>
        </p:nvPicPr>
        <p:blipFill>
          <a:blip r:embed="rId4"/>
          <a:stretch>
            <a:fillRect/>
          </a:stretch>
        </p:blipFill>
        <p:spPr>
          <a:xfrm>
            <a:off x="5973792" y="1216153"/>
            <a:ext cx="5326811" cy="3010807"/>
          </a:xfrm>
          <a:prstGeom prst="rect">
            <a:avLst/>
          </a:prstGeom>
        </p:spPr>
      </p:pic>
      <p:sp>
        <p:nvSpPr>
          <p:cNvPr id="10" name="Shape 6">
            <a:extLst>
              <a:ext uri="{FF2B5EF4-FFF2-40B4-BE49-F238E27FC236}">
                <a16:creationId xmlns:a16="http://schemas.microsoft.com/office/drawing/2014/main" id="{BE2B2BB3-9FBF-922C-3808-10578806104A}"/>
              </a:ext>
            </a:extLst>
          </p:cNvPr>
          <p:cNvSpPr/>
          <p:nvPr/>
        </p:nvSpPr>
        <p:spPr>
          <a:xfrm>
            <a:off x="1078301" y="4346350"/>
            <a:ext cx="10110159" cy="1783080"/>
          </a:xfrm>
          <a:prstGeom prst="roundRect">
            <a:avLst>
              <a:gd name="adj" fmla="val 4103"/>
            </a:avLst>
          </a:prstGeom>
          <a:solidFill>
            <a:srgbClr val="FFFFFF"/>
          </a:solidFill>
          <a:ln w="12700">
            <a:solidFill>
              <a:srgbClr val="BFD3F2"/>
            </a:solidFill>
            <a:prstDash val="solid"/>
          </a:ln>
          <a:effectLst>
            <a:outerShdw blurRad="12700" dist="50800" dir="2700000" algn="bl" rotWithShape="0">
              <a:srgbClr val="D6E4F4">
                <a:alpha val="18000"/>
              </a:srgbClr>
            </a:outerShdw>
          </a:effectLst>
        </p:spPr>
        <p:txBody>
          <a:bodyPr/>
          <a:lstStyle/>
          <a:p>
            <a:endParaRPr lang="en-CA"/>
          </a:p>
        </p:txBody>
      </p:sp>
      <p:sp>
        <p:nvSpPr>
          <p:cNvPr id="11" name="Text 7">
            <a:extLst>
              <a:ext uri="{FF2B5EF4-FFF2-40B4-BE49-F238E27FC236}">
                <a16:creationId xmlns:a16="http://schemas.microsoft.com/office/drawing/2014/main" id="{2F8C4E71-DFFE-A714-C8BE-8B1DC4433E82}"/>
              </a:ext>
            </a:extLst>
          </p:cNvPr>
          <p:cNvSpPr/>
          <p:nvPr/>
        </p:nvSpPr>
        <p:spPr>
          <a:xfrm>
            <a:off x="1279470" y="4510942"/>
            <a:ext cx="6852286" cy="256032"/>
          </a:xfrm>
          <a:prstGeom prst="rect">
            <a:avLst/>
          </a:prstGeom>
          <a:noFill/>
          <a:ln/>
        </p:spPr>
        <p:txBody>
          <a:bodyPr wrap="square" lIns="0" tIns="0" rIns="0" bIns="0" rtlCol="0" anchor="ctr"/>
          <a:lstStyle/>
          <a:p>
            <a:pPr marL="0" indent="0">
              <a:buNone/>
            </a:pPr>
            <a:r>
              <a:rPr lang="en-US" sz="2000" b="1" dirty="0">
                <a:solidFill>
                  <a:srgbClr val="147A63"/>
                </a:solidFill>
              </a:rPr>
              <a:t>Optimal number of clusters: k = 4</a:t>
            </a:r>
            <a:endParaRPr lang="en-US" sz="2000" dirty="0"/>
          </a:p>
        </p:txBody>
      </p:sp>
      <p:sp>
        <p:nvSpPr>
          <p:cNvPr id="12" name="Text 8">
            <a:extLst>
              <a:ext uri="{FF2B5EF4-FFF2-40B4-BE49-F238E27FC236}">
                <a16:creationId xmlns:a16="http://schemas.microsoft.com/office/drawing/2014/main" id="{77CD0F07-9F52-5EEE-B412-0BF692912FF5}"/>
              </a:ext>
            </a:extLst>
          </p:cNvPr>
          <p:cNvSpPr/>
          <p:nvPr/>
        </p:nvSpPr>
        <p:spPr>
          <a:xfrm>
            <a:off x="1279469" y="4858414"/>
            <a:ext cx="9208573" cy="965986"/>
          </a:xfrm>
          <a:prstGeom prst="rect">
            <a:avLst/>
          </a:prstGeom>
          <a:noFill/>
          <a:ln/>
        </p:spPr>
        <p:txBody>
          <a:bodyPr wrap="square" lIns="254" tIns="254" rIns="254" bIns="254" rtlCol="0" anchor="ctr">
            <a:normAutofit/>
          </a:bodyPr>
          <a:lstStyle/>
          <a:p>
            <a:pPr marL="0" indent="0">
              <a:buNone/>
            </a:pPr>
            <a:r>
              <a:rPr lang="en-US" sz="1400" dirty="0">
                <a:solidFill>
                  <a:srgbClr val="111827"/>
                </a:solidFill>
              </a:rPr>
              <a:t>• The silhouette score is highest at k = 4 among the tested values.</a:t>
            </a:r>
            <a:endParaRPr lang="en-US" sz="1400" dirty="0"/>
          </a:p>
          <a:p>
            <a:pPr marL="0" indent="0">
              <a:buNone/>
            </a:pPr>
            <a:r>
              <a:rPr lang="en-US" sz="1400" dirty="0">
                <a:solidFill>
                  <a:srgbClr val="111827"/>
                </a:solidFill>
              </a:rPr>
              <a:t>• The elbow curve also shows a steady improvement up to around 4 clusters before smaller gains.</a:t>
            </a:r>
            <a:endParaRPr lang="en-US" sz="1400" dirty="0"/>
          </a:p>
          <a:p>
            <a:pPr marL="0" indent="0">
              <a:buNone/>
            </a:pPr>
            <a:r>
              <a:rPr lang="en-US" sz="1400" dirty="0">
                <a:solidFill>
                  <a:srgbClr val="111827"/>
                </a:solidFill>
              </a:rPr>
              <a:t>• Four clusters provide a practical balance between model quality and easy business interpretation.</a:t>
            </a:r>
            <a:endParaRPr lang="en-US" sz="1400" dirty="0"/>
          </a:p>
        </p:txBody>
      </p:sp>
      <p:sp>
        <p:nvSpPr>
          <p:cNvPr id="13" name="Text 9">
            <a:extLst>
              <a:ext uri="{FF2B5EF4-FFF2-40B4-BE49-F238E27FC236}">
                <a16:creationId xmlns:a16="http://schemas.microsoft.com/office/drawing/2014/main" id="{710CED84-12E2-6C19-F6EA-58D4EDB78F99}"/>
              </a:ext>
            </a:extLst>
          </p:cNvPr>
          <p:cNvSpPr/>
          <p:nvPr/>
        </p:nvSpPr>
        <p:spPr>
          <a:xfrm>
            <a:off x="1007566" y="6583352"/>
            <a:ext cx="5457573" cy="164592"/>
          </a:xfrm>
          <a:prstGeom prst="rect">
            <a:avLst/>
          </a:prstGeom>
          <a:noFill/>
          <a:ln/>
        </p:spPr>
        <p:txBody>
          <a:bodyPr wrap="square" lIns="0" tIns="0" rIns="0" bIns="0" rtlCol="0" anchor="ctr"/>
          <a:lstStyle/>
          <a:p>
            <a:pPr marL="0" indent="0">
              <a:buNone/>
            </a:pPr>
            <a:r>
              <a:rPr lang="en-US" sz="850" dirty="0">
                <a:solidFill>
                  <a:srgbClr val="7B8794"/>
                </a:solidFill>
              </a:rPr>
              <a:t>Fitness_App_User_Data.xlsx  •  Slide 2</a:t>
            </a:r>
            <a:endParaRPr lang="en-US" sz="850" dirty="0"/>
          </a:p>
        </p:txBody>
      </p:sp>
    </p:spTree>
    <p:extLst>
      <p:ext uri="{BB962C8B-B14F-4D97-AF65-F5344CB8AC3E}">
        <p14:creationId xmlns:p14="http://schemas.microsoft.com/office/powerpoint/2010/main" val="3741395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AFF"/>
        </a:solidFill>
        <a:effectLst/>
      </p:bgPr>
    </p:bg>
    <p:spTree>
      <p:nvGrpSpPr>
        <p:cNvPr id="1" name=""/>
        <p:cNvGrpSpPr/>
        <p:nvPr/>
      </p:nvGrpSpPr>
      <p:grpSpPr>
        <a:xfrm>
          <a:off x="0" y="0"/>
          <a:ext cx="0" cy="0"/>
          <a:chOff x="0" y="0"/>
          <a:chExt cx="0" cy="0"/>
        </a:xfrm>
      </p:grpSpPr>
      <p:sp>
        <p:nvSpPr>
          <p:cNvPr id="2" name="Text 0"/>
          <p:cNvSpPr/>
          <p:nvPr/>
        </p:nvSpPr>
        <p:spPr>
          <a:xfrm>
            <a:off x="411480" y="228600"/>
            <a:ext cx="9418320" cy="438912"/>
          </a:xfrm>
          <a:prstGeom prst="rect">
            <a:avLst/>
          </a:prstGeom>
          <a:noFill/>
          <a:ln/>
        </p:spPr>
        <p:txBody>
          <a:bodyPr wrap="square" lIns="0" tIns="0" rIns="0" bIns="0" rtlCol="0" anchor="ctr"/>
          <a:lstStyle/>
          <a:p>
            <a:pPr marL="0" indent="0">
              <a:buNone/>
            </a:pPr>
            <a:r>
              <a:rPr lang="en-US" sz="2700" b="1" dirty="0">
                <a:solidFill>
                  <a:srgbClr val="0B2F6B"/>
                </a:solidFill>
                <a:latin typeface="Aptos Display" pitchFamily="34" charset="0"/>
                <a:ea typeface="Aptos Display" pitchFamily="34" charset="-122"/>
                <a:cs typeface="Aptos Display" pitchFamily="34" charset="-120"/>
              </a:rPr>
              <a:t>Key Findings and Insights</a:t>
            </a:r>
            <a:endParaRPr lang="en-US" sz="2700" dirty="0"/>
          </a:p>
        </p:txBody>
      </p:sp>
      <p:sp>
        <p:nvSpPr>
          <p:cNvPr id="3" name="Text 1"/>
          <p:cNvSpPr/>
          <p:nvPr/>
        </p:nvSpPr>
        <p:spPr>
          <a:xfrm>
            <a:off x="429768" y="713232"/>
            <a:ext cx="9601200" cy="274320"/>
          </a:xfrm>
          <a:prstGeom prst="rect">
            <a:avLst/>
          </a:prstGeom>
          <a:noFill/>
          <a:ln/>
        </p:spPr>
        <p:txBody>
          <a:bodyPr wrap="square" lIns="0" tIns="0" rIns="0" bIns="0" rtlCol="0" anchor="ctr"/>
          <a:lstStyle/>
          <a:p>
            <a:pPr marL="0" indent="0">
              <a:buNone/>
            </a:pPr>
            <a:r>
              <a:rPr lang="en-US" sz="1150" dirty="0">
                <a:solidFill>
                  <a:srgbClr val="52616B"/>
                </a:solidFill>
              </a:rPr>
              <a:t>Four meaningful user segments were identified from activity patterns</a:t>
            </a:r>
            <a:endParaRPr lang="en-US" sz="1150" dirty="0"/>
          </a:p>
        </p:txBody>
      </p:sp>
      <p:sp>
        <p:nvSpPr>
          <p:cNvPr id="4" name="Shape 2"/>
          <p:cNvSpPr/>
          <p:nvPr/>
        </p:nvSpPr>
        <p:spPr>
          <a:xfrm>
            <a:off x="411480" y="1051560"/>
            <a:ext cx="11338560" cy="0"/>
          </a:xfrm>
          <a:prstGeom prst="line">
            <a:avLst/>
          </a:prstGeom>
          <a:noFill/>
          <a:ln w="15240">
            <a:solidFill>
              <a:srgbClr val="BFD3F2"/>
            </a:solidFill>
            <a:prstDash val="solid"/>
          </a:ln>
        </p:spPr>
        <p:txBody>
          <a:bodyPr/>
          <a:lstStyle/>
          <a:p>
            <a:endParaRPr lang="en-CA"/>
          </a:p>
        </p:txBody>
      </p:sp>
      <p:pic>
        <p:nvPicPr>
          <p:cNvPr id="5" name="Image 0" descr="/mnt/data/fitness_analysis_assets/pca_clusters.png"/>
          <p:cNvPicPr>
            <a:picLocks noChangeAspect="1"/>
          </p:cNvPicPr>
          <p:nvPr/>
        </p:nvPicPr>
        <p:blipFill>
          <a:blip r:embed="rId3"/>
          <a:stretch>
            <a:fillRect/>
          </a:stretch>
        </p:blipFill>
        <p:spPr>
          <a:xfrm>
            <a:off x="502920" y="1266058"/>
            <a:ext cx="5130128" cy="3540511"/>
          </a:xfrm>
          <a:prstGeom prst="rect">
            <a:avLst/>
          </a:prstGeom>
        </p:spPr>
      </p:pic>
      <p:pic>
        <p:nvPicPr>
          <p:cNvPr id="6" name="Image 1" descr="/mnt/data/fitness_analysis_assets/churn.png"/>
          <p:cNvPicPr>
            <a:picLocks noChangeAspect="1"/>
          </p:cNvPicPr>
          <p:nvPr/>
        </p:nvPicPr>
        <p:blipFill>
          <a:blip r:embed="rId4"/>
          <a:stretch>
            <a:fillRect/>
          </a:stretch>
        </p:blipFill>
        <p:spPr>
          <a:xfrm>
            <a:off x="6864829" y="1170432"/>
            <a:ext cx="4284023" cy="2423160"/>
          </a:xfrm>
          <a:prstGeom prst="rect">
            <a:avLst/>
          </a:prstGeom>
        </p:spPr>
      </p:pic>
      <p:sp>
        <p:nvSpPr>
          <p:cNvPr id="7" name="Shape 3"/>
          <p:cNvSpPr/>
          <p:nvPr/>
        </p:nvSpPr>
        <p:spPr>
          <a:xfrm>
            <a:off x="6694098" y="3777852"/>
            <a:ext cx="5166360" cy="1508760"/>
          </a:xfrm>
          <a:prstGeom prst="roundRect">
            <a:avLst>
              <a:gd name="adj" fmla="val 3030"/>
            </a:avLst>
          </a:prstGeom>
          <a:solidFill>
            <a:srgbClr val="FFFFFF"/>
          </a:solidFill>
          <a:ln w="10160">
            <a:solidFill>
              <a:srgbClr val="C7D5EA"/>
            </a:solidFill>
            <a:prstDash val="solid"/>
          </a:ln>
        </p:spPr>
        <p:txBody>
          <a:bodyPr/>
          <a:lstStyle/>
          <a:p>
            <a:endParaRPr lang="en-CA"/>
          </a:p>
        </p:txBody>
      </p:sp>
      <p:sp>
        <p:nvSpPr>
          <p:cNvPr id="8" name="Shape 4"/>
          <p:cNvSpPr/>
          <p:nvPr/>
        </p:nvSpPr>
        <p:spPr>
          <a:xfrm>
            <a:off x="6694098" y="3777852"/>
            <a:ext cx="5166360" cy="256032"/>
          </a:xfrm>
          <a:prstGeom prst="rect">
            <a:avLst/>
          </a:prstGeom>
          <a:solidFill>
            <a:srgbClr val="0B2F6B"/>
          </a:solidFill>
          <a:ln w="12700">
            <a:solidFill>
              <a:srgbClr val="0B2F6B"/>
            </a:solidFill>
            <a:prstDash val="solid"/>
          </a:ln>
        </p:spPr>
        <p:txBody>
          <a:bodyPr/>
          <a:lstStyle/>
          <a:p>
            <a:endParaRPr lang="en-CA"/>
          </a:p>
        </p:txBody>
      </p:sp>
      <p:sp>
        <p:nvSpPr>
          <p:cNvPr id="9" name="Text 5"/>
          <p:cNvSpPr/>
          <p:nvPr/>
        </p:nvSpPr>
        <p:spPr>
          <a:xfrm>
            <a:off x="6785538" y="3832716"/>
            <a:ext cx="1188720" cy="146304"/>
          </a:xfrm>
          <a:prstGeom prst="rect">
            <a:avLst/>
          </a:prstGeom>
          <a:noFill/>
          <a:ln/>
        </p:spPr>
        <p:txBody>
          <a:bodyPr wrap="square" lIns="0" tIns="0" rIns="0" bIns="0" rtlCol="0" anchor="ctr"/>
          <a:lstStyle/>
          <a:p>
            <a:pPr marL="0" indent="0">
              <a:buNone/>
            </a:pPr>
            <a:r>
              <a:rPr lang="en-US" sz="850" b="1" dirty="0">
                <a:solidFill>
                  <a:srgbClr val="FFFFFF"/>
                </a:solidFill>
              </a:rPr>
              <a:t>Cluster</a:t>
            </a:r>
            <a:endParaRPr lang="en-US" sz="850" dirty="0"/>
          </a:p>
        </p:txBody>
      </p:sp>
      <p:sp>
        <p:nvSpPr>
          <p:cNvPr id="10" name="Text 6"/>
          <p:cNvSpPr/>
          <p:nvPr/>
        </p:nvSpPr>
        <p:spPr>
          <a:xfrm>
            <a:off x="8111418" y="3832716"/>
            <a:ext cx="411480" cy="146304"/>
          </a:xfrm>
          <a:prstGeom prst="rect">
            <a:avLst/>
          </a:prstGeom>
          <a:noFill/>
          <a:ln/>
        </p:spPr>
        <p:txBody>
          <a:bodyPr wrap="square" lIns="0" tIns="0" rIns="0" bIns="0" rtlCol="0" anchor="ctr"/>
          <a:lstStyle/>
          <a:p>
            <a:pPr marL="0" indent="0">
              <a:buNone/>
            </a:pPr>
            <a:r>
              <a:rPr lang="en-US" sz="850" b="1" dirty="0">
                <a:solidFill>
                  <a:srgbClr val="FFFFFF"/>
                </a:solidFill>
              </a:rPr>
              <a:t>Users</a:t>
            </a:r>
            <a:endParaRPr lang="en-US" sz="850" dirty="0"/>
          </a:p>
        </p:txBody>
      </p:sp>
      <p:sp>
        <p:nvSpPr>
          <p:cNvPr id="11" name="Text 7"/>
          <p:cNvSpPr/>
          <p:nvPr/>
        </p:nvSpPr>
        <p:spPr>
          <a:xfrm>
            <a:off x="8568618" y="3832716"/>
            <a:ext cx="2377440" cy="146304"/>
          </a:xfrm>
          <a:prstGeom prst="rect">
            <a:avLst/>
          </a:prstGeom>
          <a:noFill/>
          <a:ln/>
        </p:spPr>
        <p:txBody>
          <a:bodyPr wrap="square" lIns="0" tIns="0" rIns="0" bIns="0" rtlCol="0" anchor="ctr"/>
          <a:lstStyle/>
          <a:p>
            <a:pPr marL="0" indent="0">
              <a:buNone/>
            </a:pPr>
            <a:r>
              <a:rPr lang="en-US" sz="850" b="1" dirty="0">
                <a:solidFill>
                  <a:srgbClr val="FFFFFF"/>
                </a:solidFill>
              </a:rPr>
              <a:t>Profile</a:t>
            </a:r>
            <a:endParaRPr lang="en-US" sz="850" dirty="0"/>
          </a:p>
        </p:txBody>
      </p:sp>
      <p:sp>
        <p:nvSpPr>
          <p:cNvPr id="12" name="Text 8"/>
          <p:cNvSpPr/>
          <p:nvPr/>
        </p:nvSpPr>
        <p:spPr>
          <a:xfrm>
            <a:off x="11037498" y="3832716"/>
            <a:ext cx="502920" cy="146304"/>
          </a:xfrm>
          <a:prstGeom prst="rect">
            <a:avLst/>
          </a:prstGeom>
          <a:noFill/>
          <a:ln/>
        </p:spPr>
        <p:txBody>
          <a:bodyPr wrap="square" lIns="0" tIns="0" rIns="0" bIns="0" rtlCol="0" anchor="ctr"/>
          <a:lstStyle/>
          <a:p>
            <a:pPr marL="0" indent="0">
              <a:buNone/>
            </a:pPr>
            <a:r>
              <a:rPr lang="en-US" sz="850" b="1" dirty="0">
                <a:solidFill>
                  <a:srgbClr val="FFFFFF"/>
                </a:solidFill>
              </a:rPr>
              <a:t>Churn</a:t>
            </a:r>
            <a:endParaRPr lang="en-US" sz="850" dirty="0"/>
          </a:p>
        </p:txBody>
      </p:sp>
      <p:sp>
        <p:nvSpPr>
          <p:cNvPr id="13" name="Shape 9"/>
          <p:cNvSpPr/>
          <p:nvPr/>
        </p:nvSpPr>
        <p:spPr>
          <a:xfrm>
            <a:off x="6694098" y="4206240"/>
            <a:ext cx="5166360" cy="0"/>
          </a:xfrm>
          <a:prstGeom prst="line">
            <a:avLst/>
          </a:prstGeom>
          <a:noFill/>
          <a:ln w="6350">
            <a:solidFill>
              <a:srgbClr val="E3EAF5"/>
            </a:solidFill>
            <a:prstDash val="solid"/>
          </a:ln>
        </p:spPr>
        <p:txBody>
          <a:bodyPr/>
          <a:lstStyle/>
          <a:p>
            <a:endParaRPr lang="en-CA"/>
          </a:p>
        </p:txBody>
      </p:sp>
      <p:sp>
        <p:nvSpPr>
          <p:cNvPr id="14" name="Text 10"/>
          <p:cNvSpPr/>
          <p:nvPr/>
        </p:nvSpPr>
        <p:spPr>
          <a:xfrm>
            <a:off x="6785538" y="4134468"/>
            <a:ext cx="118872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At-risk low activity</a:t>
            </a:r>
            <a:endParaRPr lang="en-US" sz="840" dirty="0"/>
          </a:p>
        </p:txBody>
      </p:sp>
      <p:sp>
        <p:nvSpPr>
          <p:cNvPr id="15" name="Text 11"/>
          <p:cNvSpPr/>
          <p:nvPr/>
        </p:nvSpPr>
        <p:spPr>
          <a:xfrm>
            <a:off x="8111418" y="4134468"/>
            <a:ext cx="41148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63</a:t>
            </a:r>
            <a:endParaRPr lang="en-US" sz="840" dirty="0"/>
          </a:p>
        </p:txBody>
      </p:sp>
      <p:sp>
        <p:nvSpPr>
          <p:cNvPr id="16" name="Text 12"/>
          <p:cNvSpPr/>
          <p:nvPr/>
        </p:nvSpPr>
        <p:spPr>
          <a:xfrm>
            <a:off x="8568618" y="4134468"/>
            <a:ext cx="237744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Low steps, moderate sessions</a:t>
            </a:r>
            <a:endParaRPr lang="en-US" sz="840" dirty="0"/>
          </a:p>
        </p:txBody>
      </p:sp>
      <p:sp>
        <p:nvSpPr>
          <p:cNvPr id="17" name="Text 13"/>
          <p:cNvSpPr/>
          <p:nvPr/>
        </p:nvSpPr>
        <p:spPr>
          <a:xfrm>
            <a:off x="11037498" y="4134468"/>
            <a:ext cx="50292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30%</a:t>
            </a:r>
            <a:endParaRPr lang="en-US" sz="840" dirty="0"/>
          </a:p>
        </p:txBody>
      </p:sp>
      <p:sp>
        <p:nvSpPr>
          <p:cNvPr id="18" name="Shape 14"/>
          <p:cNvSpPr/>
          <p:nvPr/>
        </p:nvSpPr>
        <p:spPr>
          <a:xfrm>
            <a:off x="6694098" y="4381356"/>
            <a:ext cx="5166360" cy="0"/>
          </a:xfrm>
          <a:prstGeom prst="line">
            <a:avLst/>
          </a:prstGeom>
          <a:noFill/>
          <a:ln w="6350">
            <a:solidFill>
              <a:srgbClr val="E3EAF5"/>
            </a:solidFill>
            <a:prstDash val="solid"/>
          </a:ln>
        </p:spPr>
        <p:txBody>
          <a:bodyPr/>
          <a:lstStyle/>
          <a:p>
            <a:endParaRPr lang="en-CA"/>
          </a:p>
        </p:txBody>
      </p:sp>
      <p:sp>
        <p:nvSpPr>
          <p:cNvPr id="19" name="Text 15"/>
          <p:cNvSpPr/>
          <p:nvPr/>
        </p:nvSpPr>
        <p:spPr>
          <a:xfrm>
            <a:off x="6785538" y="4445364"/>
            <a:ext cx="118872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Daily walkers</a:t>
            </a:r>
            <a:endParaRPr lang="en-US" sz="840" dirty="0"/>
          </a:p>
        </p:txBody>
      </p:sp>
      <p:sp>
        <p:nvSpPr>
          <p:cNvPr id="20" name="Text 16"/>
          <p:cNvSpPr/>
          <p:nvPr/>
        </p:nvSpPr>
        <p:spPr>
          <a:xfrm>
            <a:off x="8111418" y="4445364"/>
            <a:ext cx="41148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52</a:t>
            </a:r>
            <a:endParaRPr lang="en-US" sz="840" dirty="0"/>
          </a:p>
        </p:txBody>
      </p:sp>
      <p:sp>
        <p:nvSpPr>
          <p:cNvPr id="21" name="Text 17"/>
          <p:cNvSpPr/>
          <p:nvPr/>
        </p:nvSpPr>
        <p:spPr>
          <a:xfrm>
            <a:off x="8568618" y="4445364"/>
            <a:ext cx="237744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High steps, few workouts</a:t>
            </a:r>
            <a:endParaRPr lang="en-US" sz="840" dirty="0"/>
          </a:p>
        </p:txBody>
      </p:sp>
      <p:sp>
        <p:nvSpPr>
          <p:cNvPr id="22" name="Text 18"/>
          <p:cNvSpPr/>
          <p:nvPr/>
        </p:nvSpPr>
        <p:spPr>
          <a:xfrm>
            <a:off x="11037498" y="4445364"/>
            <a:ext cx="50292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10%</a:t>
            </a:r>
            <a:endParaRPr lang="en-US" sz="840" dirty="0"/>
          </a:p>
        </p:txBody>
      </p:sp>
      <p:sp>
        <p:nvSpPr>
          <p:cNvPr id="23" name="Shape 19"/>
          <p:cNvSpPr/>
          <p:nvPr/>
        </p:nvSpPr>
        <p:spPr>
          <a:xfrm>
            <a:off x="6694098" y="4692252"/>
            <a:ext cx="5166360" cy="0"/>
          </a:xfrm>
          <a:prstGeom prst="line">
            <a:avLst/>
          </a:prstGeom>
          <a:noFill/>
          <a:ln w="6350">
            <a:solidFill>
              <a:srgbClr val="E3EAF5"/>
            </a:solidFill>
            <a:prstDash val="solid"/>
          </a:ln>
        </p:spPr>
        <p:txBody>
          <a:bodyPr/>
          <a:lstStyle/>
          <a:p>
            <a:endParaRPr lang="en-CA"/>
          </a:p>
        </p:txBody>
      </p:sp>
      <p:sp>
        <p:nvSpPr>
          <p:cNvPr id="24" name="Text 20"/>
          <p:cNvSpPr/>
          <p:nvPr/>
        </p:nvSpPr>
        <p:spPr>
          <a:xfrm>
            <a:off x="6785538" y="4756260"/>
            <a:ext cx="118872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Power users</a:t>
            </a:r>
            <a:endParaRPr lang="en-US" sz="840" dirty="0"/>
          </a:p>
        </p:txBody>
      </p:sp>
      <p:sp>
        <p:nvSpPr>
          <p:cNvPr id="25" name="Text 21"/>
          <p:cNvSpPr/>
          <p:nvPr/>
        </p:nvSpPr>
        <p:spPr>
          <a:xfrm>
            <a:off x="8111418" y="4756260"/>
            <a:ext cx="41148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48</a:t>
            </a:r>
            <a:endParaRPr lang="en-US" sz="840" dirty="0"/>
          </a:p>
        </p:txBody>
      </p:sp>
      <p:sp>
        <p:nvSpPr>
          <p:cNvPr id="26" name="Text 22"/>
          <p:cNvSpPr/>
          <p:nvPr/>
        </p:nvSpPr>
        <p:spPr>
          <a:xfrm>
            <a:off x="8568618" y="4756260"/>
            <a:ext cx="237744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High workouts + high steps</a:t>
            </a:r>
            <a:endParaRPr lang="en-US" sz="840" dirty="0"/>
          </a:p>
        </p:txBody>
      </p:sp>
      <p:sp>
        <p:nvSpPr>
          <p:cNvPr id="27" name="Text 23"/>
          <p:cNvSpPr/>
          <p:nvPr/>
        </p:nvSpPr>
        <p:spPr>
          <a:xfrm>
            <a:off x="11037498" y="4756260"/>
            <a:ext cx="50292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6%</a:t>
            </a:r>
            <a:endParaRPr lang="en-US" sz="840" dirty="0"/>
          </a:p>
        </p:txBody>
      </p:sp>
      <p:sp>
        <p:nvSpPr>
          <p:cNvPr id="28" name="Shape 24"/>
          <p:cNvSpPr/>
          <p:nvPr/>
        </p:nvSpPr>
        <p:spPr>
          <a:xfrm>
            <a:off x="6694098" y="5003148"/>
            <a:ext cx="5166360" cy="0"/>
          </a:xfrm>
          <a:prstGeom prst="line">
            <a:avLst/>
          </a:prstGeom>
          <a:noFill/>
          <a:ln w="6350">
            <a:solidFill>
              <a:srgbClr val="E3EAF5"/>
            </a:solidFill>
            <a:prstDash val="solid"/>
          </a:ln>
        </p:spPr>
        <p:txBody>
          <a:bodyPr/>
          <a:lstStyle/>
          <a:p>
            <a:endParaRPr lang="en-CA"/>
          </a:p>
        </p:txBody>
      </p:sp>
      <p:sp>
        <p:nvSpPr>
          <p:cNvPr id="29" name="Text 25"/>
          <p:cNvSpPr/>
          <p:nvPr/>
        </p:nvSpPr>
        <p:spPr>
          <a:xfrm>
            <a:off x="6785538" y="5067156"/>
            <a:ext cx="118872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Short-session regulars</a:t>
            </a:r>
            <a:endParaRPr lang="en-US" sz="840" dirty="0"/>
          </a:p>
        </p:txBody>
      </p:sp>
      <p:sp>
        <p:nvSpPr>
          <p:cNvPr id="30" name="Text 26"/>
          <p:cNvSpPr/>
          <p:nvPr/>
        </p:nvSpPr>
        <p:spPr>
          <a:xfrm>
            <a:off x="8111418" y="5067156"/>
            <a:ext cx="41148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37</a:t>
            </a:r>
            <a:endParaRPr lang="en-US" sz="840" dirty="0"/>
          </a:p>
        </p:txBody>
      </p:sp>
      <p:sp>
        <p:nvSpPr>
          <p:cNvPr id="31" name="Text 27"/>
          <p:cNvSpPr/>
          <p:nvPr/>
        </p:nvSpPr>
        <p:spPr>
          <a:xfrm>
            <a:off x="8568618" y="5067156"/>
            <a:ext cx="237744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Frequent short workouts</a:t>
            </a:r>
            <a:endParaRPr lang="en-US" sz="840" dirty="0"/>
          </a:p>
        </p:txBody>
      </p:sp>
      <p:sp>
        <p:nvSpPr>
          <p:cNvPr id="32" name="Text 28"/>
          <p:cNvSpPr/>
          <p:nvPr/>
        </p:nvSpPr>
        <p:spPr>
          <a:xfrm>
            <a:off x="11037498" y="5067156"/>
            <a:ext cx="502920" cy="164592"/>
          </a:xfrm>
          <a:prstGeom prst="rect">
            <a:avLst/>
          </a:prstGeom>
          <a:noFill/>
          <a:ln/>
        </p:spPr>
        <p:txBody>
          <a:bodyPr wrap="square" lIns="0" tIns="0" rIns="0" bIns="0" rtlCol="0" anchor="ctr">
            <a:normAutofit/>
          </a:bodyPr>
          <a:lstStyle/>
          <a:p>
            <a:pPr marL="0" indent="0">
              <a:buNone/>
            </a:pPr>
            <a:r>
              <a:rPr lang="en-US" sz="840" dirty="0">
                <a:solidFill>
                  <a:srgbClr val="111827"/>
                </a:solidFill>
              </a:rPr>
              <a:t>5%</a:t>
            </a:r>
            <a:endParaRPr lang="en-US" sz="840" dirty="0"/>
          </a:p>
        </p:txBody>
      </p:sp>
      <p:sp>
        <p:nvSpPr>
          <p:cNvPr id="33" name="Shape 29"/>
          <p:cNvSpPr/>
          <p:nvPr/>
        </p:nvSpPr>
        <p:spPr>
          <a:xfrm>
            <a:off x="685800" y="4920852"/>
            <a:ext cx="5394960" cy="1816378"/>
          </a:xfrm>
          <a:prstGeom prst="roundRect">
            <a:avLst>
              <a:gd name="adj" fmla="val 8421"/>
            </a:avLst>
          </a:prstGeom>
          <a:solidFill>
            <a:srgbClr val="FFFFFF"/>
          </a:solidFill>
          <a:ln w="12700">
            <a:solidFill>
              <a:srgbClr val="BFD3F2"/>
            </a:solidFill>
            <a:prstDash val="solid"/>
          </a:ln>
          <a:effectLst>
            <a:outerShdw blurRad="12700" dist="50800" dir="2700000" algn="bl" rotWithShape="0">
              <a:srgbClr val="D6E4F4">
                <a:alpha val="18000"/>
              </a:srgbClr>
            </a:outerShdw>
          </a:effectLst>
        </p:spPr>
        <p:txBody>
          <a:bodyPr/>
          <a:lstStyle/>
          <a:p>
            <a:endParaRPr lang="en-CA"/>
          </a:p>
        </p:txBody>
      </p:sp>
      <p:sp>
        <p:nvSpPr>
          <p:cNvPr id="34" name="Text 30"/>
          <p:cNvSpPr/>
          <p:nvPr/>
        </p:nvSpPr>
        <p:spPr>
          <a:xfrm>
            <a:off x="886968" y="5103732"/>
            <a:ext cx="4489704" cy="256032"/>
          </a:xfrm>
          <a:prstGeom prst="rect">
            <a:avLst/>
          </a:prstGeom>
          <a:noFill/>
          <a:ln/>
        </p:spPr>
        <p:txBody>
          <a:bodyPr wrap="square" lIns="0" tIns="0" rIns="0" bIns="0" rtlCol="0" anchor="ctr"/>
          <a:lstStyle/>
          <a:p>
            <a:pPr marL="0" indent="0">
              <a:buNone/>
            </a:pPr>
            <a:r>
              <a:rPr lang="en-US" sz="1450" b="1" dirty="0">
                <a:solidFill>
                  <a:srgbClr val="B91C1C"/>
                </a:solidFill>
              </a:rPr>
              <a:t>Key Findings:</a:t>
            </a:r>
            <a:endParaRPr lang="en-US" sz="1450" dirty="0"/>
          </a:p>
        </p:txBody>
      </p:sp>
      <p:sp>
        <p:nvSpPr>
          <p:cNvPr id="35" name="Text 31"/>
          <p:cNvSpPr/>
          <p:nvPr/>
        </p:nvSpPr>
        <p:spPr>
          <a:xfrm>
            <a:off x="886968" y="5387022"/>
            <a:ext cx="4996247" cy="1242377"/>
          </a:xfrm>
          <a:prstGeom prst="rect">
            <a:avLst/>
          </a:prstGeom>
          <a:noFill/>
          <a:ln/>
        </p:spPr>
        <p:txBody>
          <a:bodyPr wrap="square" lIns="254" tIns="254" rIns="254" bIns="254" rtlCol="0" anchor="ctr">
            <a:normAutofit fontScale="77500" lnSpcReduction="20000"/>
          </a:bodyPr>
          <a:lstStyle/>
          <a:p>
            <a:pPr marL="342900" indent="-342900">
              <a:buFont typeface="+mj-lt"/>
              <a:buAutoNum type="arabicPeriod"/>
            </a:pPr>
            <a:r>
              <a:rPr lang="en-CA" dirty="0"/>
              <a:t>Four distinct user segments were identified.</a:t>
            </a:r>
          </a:p>
          <a:p>
            <a:pPr marL="342900" indent="-342900">
              <a:buFont typeface="+mj-lt"/>
              <a:buAutoNum type="arabicPeriod"/>
            </a:pPr>
            <a:r>
              <a:rPr lang="en-CA" dirty="0"/>
              <a:t>Cluster 0 exhibited the highest churn rate (30%).</a:t>
            </a:r>
          </a:p>
          <a:p>
            <a:pPr marL="342900" indent="-342900">
              <a:buFont typeface="+mj-lt"/>
              <a:buAutoNum type="arabicPeriod"/>
            </a:pPr>
            <a:r>
              <a:rPr lang="en-CA" dirty="0"/>
              <a:t>Clusters 2 and 3 demonstrated the strongest engagement levels.</a:t>
            </a:r>
          </a:p>
          <a:p>
            <a:pPr marL="342900" indent="-342900">
              <a:buFont typeface="+mj-lt"/>
              <a:buAutoNum type="arabicPeriod"/>
            </a:pPr>
            <a:r>
              <a:rPr lang="en-CA" dirty="0"/>
              <a:t>Workout frequency and daily step count appear to be important indicators of user retention.</a:t>
            </a:r>
          </a:p>
          <a:p>
            <a:pPr marL="342900" indent="-342900">
              <a:buFont typeface="+mj-lt"/>
              <a:buAutoNum type="arabicPeriod"/>
            </a:pPr>
            <a:r>
              <a:rPr lang="en-CA" dirty="0"/>
              <a:t>Highly engaged users are less likely to leave the platform.</a:t>
            </a:r>
          </a:p>
          <a:p>
            <a:pPr marL="228600" indent="-228600">
              <a:buFont typeface="+mj-lt"/>
              <a:buAutoNum type="arabicPeriod"/>
            </a:pP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563</Words>
  <Application>Microsoft Office PowerPoint</Application>
  <PresentationFormat>Widescreen</PresentationFormat>
  <Paragraphs>74</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 Display</vt:lpstr>
      <vt:lpstr>Arial</vt:lpstr>
      <vt:lpstr>Wingdings</vt:lpstr>
      <vt:lpstr>Office Theme</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Fitness App User Clustering Analysis</dc:title>
  <dc:subject>Fitness app clustering analysis</dc:subject>
  <dc:creator>OpenAI</dc:creator>
  <cp:lastModifiedBy>Roxanne Prajapati</cp:lastModifiedBy>
  <cp:revision>3</cp:revision>
  <dcterms:created xsi:type="dcterms:W3CDTF">2026-06-06T23:38:32Z</dcterms:created>
  <dcterms:modified xsi:type="dcterms:W3CDTF">2026-06-07T00:47:03Z</dcterms:modified>
</cp:coreProperties>
</file>