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1776" autoAdjust="0"/>
  </p:normalViewPr>
  <p:slideViewPr>
    <p:cSldViewPr snapToGrid="0" snapToObjects="1">
      <p:cViewPr varScale="1">
        <p:scale>
          <a:sx n="70" d="100"/>
          <a:sy n="70" d="100"/>
        </p:scale>
        <p:origin x="11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9277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731520"/>
            <a:ext cx="2743200" cy="2743200"/>
          </a:xfrm>
          <a:prstGeom prst="ellipse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-457200" y="3200400"/>
            <a:ext cx="1828800" cy="1828800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11 – Activity 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DBEA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Zealand Wellbeing Statistics</a:t>
            </a:r>
            <a:endParaRPr lang="en-US" sz="2200" dirty="0"/>
          </a:p>
          <a:p>
            <a:pPr marL="0" indent="0" algn="l">
              <a:buNone/>
            </a:pPr>
            <a:r>
              <a:rPr lang="en-US" sz="2200" dirty="0">
                <a:solidFill>
                  <a:srgbClr val="DBEA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(2014–2018)  |  Time-Series Forecasting Project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8046720" cy="27432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Roxanne Peñaverde Prajapati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MSE803 – Data Analytics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274320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384048" y="896112"/>
            <a:ext cx="2523744" cy="475488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384048" y="896112"/>
            <a:ext cx="25237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" y="1463040"/>
            <a:ext cx="2414016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next year's wellbeing value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five forecasting models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prediction accuracy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best-performing model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841248"/>
            <a:ext cx="274320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>
            <a:off x="3310128" y="896112"/>
            <a:ext cx="2523744" cy="475488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3310128" y="896112"/>
            <a:ext cx="25237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64992" y="1463040"/>
            <a:ext cx="2414016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Stats NZ – Wellbeing Time Series Explorer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Overall Life Satisfaction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Population: Total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Years: 2014, 2016, 2018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841248"/>
            <a:ext cx="274320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6236208" y="896112"/>
            <a:ext cx="2523744" cy="475488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6236208" y="896112"/>
            <a:ext cx="25237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Models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91072" y="1463040"/>
            <a:ext cx="2414016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(Artificial Neural Network)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(Deep Learning)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(Statistical)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Preparation &amp; Processing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274320" y="822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Dataset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81912" y="1170432"/>
            <a:ext cx="36576" cy="10972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274320" y="1289304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274320" y="12893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Total Population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581912" y="1636776"/>
            <a:ext cx="36576" cy="10972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>
            <a:off x="274320" y="1755648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274320" y="17556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581912" y="2103120"/>
            <a:ext cx="36576" cy="10972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274320" y="2221992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274320" y="222199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Missing Years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81912" y="2569464"/>
            <a:ext cx="36576" cy="10972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Shape 14"/>
          <p:cNvSpPr/>
          <p:nvPr/>
        </p:nvSpPr>
        <p:spPr>
          <a:xfrm>
            <a:off x="274320" y="2688336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274320" y="268833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581912" y="3035808"/>
            <a:ext cx="36576" cy="10972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Shape 17"/>
          <p:cNvSpPr/>
          <p:nvPr/>
        </p:nvSpPr>
        <p:spPr>
          <a:xfrm>
            <a:off x="274320" y="3154680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274320" y="31546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Train-Test Split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581912" y="3502152"/>
            <a:ext cx="36576" cy="10972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Shape 20"/>
          <p:cNvSpPr/>
          <p:nvPr/>
        </p:nvSpPr>
        <p:spPr>
          <a:xfrm>
            <a:off x="274320" y="3621024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274320" y="36210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Models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581912" y="3968496"/>
            <a:ext cx="36576" cy="10972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Shape 23"/>
          <p:cNvSpPr/>
          <p:nvPr/>
        </p:nvSpPr>
        <p:spPr>
          <a:xfrm>
            <a:off x="274320" y="4087368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274320" y="40873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581912" y="4434840"/>
            <a:ext cx="36576" cy="10972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Shape 26"/>
          <p:cNvSpPr/>
          <p:nvPr/>
        </p:nvSpPr>
        <p:spPr>
          <a:xfrm>
            <a:off x="274320" y="4553712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2563EB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9" name="Text 27"/>
          <p:cNvSpPr/>
          <p:nvPr/>
        </p:nvSpPr>
        <p:spPr>
          <a:xfrm>
            <a:off x="274320" y="45537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Next-Year Forecast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46120" y="804672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Processing Steps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46120" y="1261872"/>
            <a:ext cx="5577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Excel dataset from Stats NZ
</a:t>
            </a: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Total Population records
</a:t>
            </a: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blank values and corrected data types
</a:t>
            </a: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Interpolated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missing years (2015, 2017) between survey points
</a:t>
            </a: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Time_Index feature (sequential integer)
</a:t>
            </a: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Lag_1 feature (previous year's wellbeing value)
</a:t>
            </a: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into training (80%) and testing (20%) sets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Historical Wellbeing Trend</a:t>
            </a:r>
            <a:endParaRPr lang="en-US" sz="2600" dirty="0"/>
          </a:p>
        </p:txBody>
      </p:sp>
      <p:pic>
        <p:nvPicPr>
          <p:cNvPr id="4" name="Image 0" descr="/mnt/user-data/uploads/01_historical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04672"/>
            <a:ext cx="5486400" cy="4069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89320" y="804672"/>
            <a:ext cx="2852928" cy="4069080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144768" y="9144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graph shows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144768" y="1353312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Wellbeing remained stable from 2014 to 2016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slight decline occurred from 2016 to 2018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life satisfaction changed only marginally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144768" y="288036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144768" y="329184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the historical trend before forecasting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understand year-on-year changes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context for model selection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Analysis</a:t>
            </a:r>
            <a:endParaRPr lang="en-US" sz="2600" dirty="0"/>
          </a:p>
        </p:txBody>
      </p:sp>
      <p:pic>
        <p:nvPicPr>
          <p:cNvPr id="4" name="Image 0" descr="/mnt/user-data/uploads/02_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04672"/>
            <a:ext cx="5212080" cy="4069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15000" y="804672"/>
            <a:ext cx="3108960" cy="40690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5870448" y="914400"/>
            <a:ext cx="2798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heatmap shows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870448" y="1353312"/>
            <a:ext cx="27980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and Time_Index are perfectly correlated (+1.00)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Lag_1 has a strong positive relationship with wellbeing (+0.88)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year's wellbeing predicts future wellbeing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870448" y="3063240"/>
            <a:ext cx="2798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70448" y="3493008"/>
            <a:ext cx="279806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relationships between all variables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and validates feature engineering choices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Lag_1 as a useful forecasting predictor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Performance</a:t>
            </a:r>
            <a:endParaRPr lang="en-US" sz="2600" dirty="0"/>
          </a:p>
        </p:txBody>
      </p:sp>
      <p:pic>
        <p:nvPicPr>
          <p:cNvPr id="4" name="Image 0" descr="/mnt/user-data/uploads/04_absolute_error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297680" cy="3200400"/>
          </a:xfrm>
          <a:prstGeom prst="rect">
            <a:avLst/>
          </a:prstGeom>
        </p:spPr>
      </p:pic>
      <p:pic>
        <p:nvPicPr>
          <p:cNvPr id="5" name="Image 1" descr="/mnt/user-data/uploads/05_model_perform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777240"/>
            <a:ext cx="4206240" cy="32004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887968" y="3749040"/>
            <a:ext cx="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F3F4F6"/>
                </a:solidFill>
              </a:rPr>
              <a:t>★  Linear Regression &amp; ARIMA achieved the lowest error scores</a:t>
            </a:r>
            <a:endParaRPr lang="en-US" sz="100" dirty="0"/>
          </a:p>
        </p:txBody>
      </p:sp>
      <p:sp>
        <p:nvSpPr>
          <p:cNvPr id="17" name="Text 13"/>
          <p:cNvSpPr/>
          <p:nvPr/>
        </p:nvSpPr>
        <p:spPr>
          <a:xfrm>
            <a:off x="274320" y="4206240"/>
            <a:ext cx="8503920" cy="534924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Linear Regression &amp; ARIMA achieved the lowest error — best performers for this dataset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Results</a:t>
            </a:r>
            <a:endParaRPr lang="en-US" sz="2600" dirty="0"/>
          </a:p>
        </p:txBody>
      </p:sp>
      <p:pic>
        <p:nvPicPr>
          <p:cNvPr id="4" name="Image 0" descr="/mnt/user-data/uploads/03_actual_vs_predicted_zoo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434840" cy="2743200"/>
          </a:xfrm>
          <a:prstGeom prst="rect">
            <a:avLst/>
          </a:prstGeom>
        </p:spPr>
      </p:pic>
      <p:pic>
        <p:nvPicPr>
          <p:cNvPr id="5" name="Image 1" descr="/mnt/user-data/uploads/06_next_year_fore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777240"/>
            <a:ext cx="4114800" cy="27432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" y="3657600"/>
            <a:ext cx="26517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Shape 3"/>
          <p:cNvSpPr/>
          <p:nvPr/>
        </p:nvSpPr>
        <p:spPr>
          <a:xfrm>
            <a:off x="1371600" y="3566160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4"/>
          <p:cNvSpPr/>
          <p:nvPr/>
        </p:nvSpPr>
        <p:spPr>
          <a:xfrm>
            <a:off x="13716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11480" y="3749040"/>
            <a:ext cx="2377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predicted values close to the actual 2018 value of 7.70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154680" y="3657600"/>
            <a:ext cx="26517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Shape 7"/>
          <p:cNvSpPr/>
          <p:nvPr/>
        </p:nvSpPr>
        <p:spPr>
          <a:xfrm>
            <a:off x="4251960" y="3566160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8"/>
          <p:cNvSpPr/>
          <p:nvPr/>
        </p:nvSpPr>
        <p:spPr>
          <a:xfrm>
            <a:off x="425196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291840" y="3749040"/>
            <a:ext cx="2377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 (Linear Regression) forecasts 7.74 for 2019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035040" y="3657600"/>
            <a:ext cx="26517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Shape 11"/>
          <p:cNvSpPr/>
          <p:nvPr/>
        </p:nvSpPr>
        <p:spPr>
          <a:xfrm>
            <a:off x="7132320" y="3566160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2"/>
          <p:cNvSpPr/>
          <p:nvPr/>
        </p:nvSpPr>
        <p:spPr>
          <a:xfrm>
            <a:off x="713232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72200" y="3749040"/>
            <a:ext cx="2377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Wellbeing is expected to remain relatively stable in 2019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274320" y="841248"/>
            <a:ext cx="658368" cy="1280160"/>
          </a:xfrm>
          <a:prstGeom prst="roundRect">
            <a:avLst>
              <a:gd name="adj" fmla="val 13889"/>
            </a:avLst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274320" y="841248"/>
            <a:ext cx="6583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950976"/>
            <a:ext cx="7635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Wellbeing Trend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51560" y="1353312"/>
            <a:ext cx="7635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life satisfaction in New Zealand remained relatively stable between 2014 and 2018, showing only a modest decline from 7.80 to 7.70.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" y="2231136"/>
            <a:ext cx="85953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>
            <a:off x="274320" y="2231136"/>
            <a:ext cx="658368" cy="1280160"/>
          </a:xfrm>
          <a:prstGeom prst="roundRect">
            <a:avLst>
              <a:gd name="adj" fmla="val 13889"/>
            </a:avLst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274320" y="2231136"/>
            <a:ext cx="6583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2340864"/>
            <a:ext cx="7635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Simpler Models Outperformed Complex Ones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51560" y="2743200"/>
            <a:ext cx="7635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and ARIMA outperformed deep learning models such as ANN and LSTM. This outcome is expected when working with a small dataset that contains insufficient observations to train complex neural networks effectively.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3621024"/>
            <a:ext cx="85953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274320" y="3621024"/>
            <a:ext cx="658368" cy="1280160"/>
          </a:xfrm>
          <a:prstGeom prst="roundRect">
            <a:avLst>
              <a:gd name="adj" fmla="val 13889"/>
            </a:avLst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274320" y="3621024"/>
            <a:ext cx="6583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51560" y="3730752"/>
            <a:ext cx="7635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Successful Forecasting Demonstrated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51560" y="4133088"/>
            <a:ext cx="7635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forecasting process successfully predicted the next year's wellbeing value (7.74 for 2019), demonstrating how predictive analytics can support evidence-based future planning and decision-making.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459</Words>
  <Application>Microsoft Office PowerPoint</Application>
  <PresentationFormat>On-screen Show (16:9)</PresentationFormat>
  <Paragraphs>80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 – Activity 2: NZ Wellbeing Statistics Forecasting Project</dc:title>
  <dc:subject>PptxGenJS Presentation</dc:subject>
  <dc:creator>Roxanne Peñaverde Prajapati</dc:creator>
  <cp:lastModifiedBy>Roxanne Prajapati</cp:lastModifiedBy>
  <cp:revision>7</cp:revision>
  <dcterms:created xsi:type="dcterms:W3CDTF">2026-06-27T13:32:06Z</dcterms:created>
  <dcterms:modified xsi:type="dcterms:W3CDTF">2026-06-27T20:36:15Z</dcterms:modified>
</cp:coreProperties>
</file>